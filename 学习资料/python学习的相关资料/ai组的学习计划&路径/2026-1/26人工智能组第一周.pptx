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2" r:id="rId3"/>
  </p:sldMasterIdLst>
  <p:notesMasterIdLst>
    <p:notesMasterId r:id="rId5"/>
  </p:notesMasterIdLst>
  <p:sldIdLst>
    <p:sldId id="373" r:id="rId4"/>
    <p:sldId id="280" r:id="rId6"/>
    <p:sldId id="340" r:id="rId7"/>
    <p:sldId id="260" r:id="rId8"/>
    <p:sldId id="345" r:id="rId9"/>
    <p:sldId id="346" r:id="rId10"/>
    <p:sldId id="284" r:id="rId11"/>
    <p:sldId id="262" r:id="rId12"/>
    <p:sldId id="347" r:id="rId13"/>
    <p:sldId id="285" r:id="rId14"/>
    <p:sldId id="343" r:id="rId15"/>
    <p:sldId id="348" r:id="rId16"/>
    <p:sldId id="287" r:id="rId17"/>
    <p:sldId id="328" r:id="rId18"/>
    <p:sldId id="330" r:id="rId19"/>
    <p:sldId id="288" r:id="rId20"/>
    <p:sldId id="265" r:id="rId21"/>
    <p:sldId id="349" r:id="rId22"/>
    <p:sldId id="286" r:id="rId23"/>
    <p:sldId id="276" r:id="rId24"/>
    <p:sldId id="337" r:id="rId25"/>
    <p:sldId id="338" r:id="rId26"/>
    <p:sldId id="256" r:id="rId27"/>
    <p:sldId id="289" r:id="rId28"/>
    <p:sldId id="290" r:id="rId29"/>
    <p:sldId id="291" r:id="rId30"/>
    <p:sldId id="257" r:id="rId31"/>
    <p:sldId id="258" r:id="rId32"/>
    <p:sldId id="259" r:id="rId33"/>
    <p:sldId id="350" r:id="rId34"/>
    <p:sldId id="261" r:id="rId35"/>
    <p:sldId id="357" r:id="rId36"/>
    <p:sldId id="358" r:id="rId37"/>
    <p:sldId id="371" r:id="rId38"/>
    <p:sldId id="370" r:id="rId39"/>
    <p:sldId id="359" r:id="rId40"/>
    <p:sldId id="360" r:id="rId41"/>
    <p:sldId id="361" r:id="rId42"/>
    <p:sldId id="362" r:id="rId43"/>
    <p:sldId id="363" r:id="rId44"/>
    <p:sldId id="364" r:id="rId45"/>
    <p:sldId id="365" r:id="rId46"/>
    <p:sldId id="366" r:id="rId47"/>
    <p:sldId id="367" r:id="rId48"/>
    <p:sldId id="368" r:id="rId49"/>
    <p:sldId id="369" r:id="rId50"/>
    <p:sldId id="372" r:id="rId51"/>
    <p:sldId id="374" r:id="rId52"/>
    <p:sldId id="375" r:id="rId5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3602"/>
  </p:normalViewPr>
  <p:slideViewPr>
    <p:cSldViewPr snapToGrid="0" snapToObjects="1">
      <p:cViewPr varScale="1">
        <p:scale>
          <a:sx n="89" d="100"/>
          <a:sy n="89" d="100"/>
        </p:scale>
        <p:origin x="36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9E48F-FB83-4413-A27B-60E6B7DFCC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5" Type="http://schemas.microsoft.com/office/2007/relationships/hdphoto" Target="../media/image10.wdp"/><Relationship Id="rId4" Type="http://schemas.openxmlformats.org/officeDocument/2006/relationships/image" Target="../media/image9.png"/><Relationship Id="rId3" Type="http://schemas.openxmlformats.org/officeDocument/2006/relationships/hyperlink" Target="http://www.officeplus.cn/Template/Home.shtml" TargetMode="Externa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microsoft.com/office/2007/relationships/hdphoto" Target="../media/image10.wdp"/><Relationship Id="rId6" Type="http://schemas.openxmlformats.org/officeDocument/2006/relationships/image" Target="../media/image9.png"/><Relationship Id="rId5" Type="http://schemas.openxmlformats.org/officeDocument/2006/relationships/hyperlink" Target="http://www.officeplus.cn/Template/Home.shtml" TargetMode="External"/><Relationship Id="rId4" Type="http://schemas.openxmlformats.org/officeDocument/2006/relationships/image" Target="../media/image13.png"/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849510" y="-12701"/>
            <a:ext cx="10492980" cy="6858001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22697" y="2307026"/>
            <a:ext cx="11146606" cy="937764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4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3155230" y="3669185"/>
            <a:ext cx="2294080" cy="54989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anchor="t"/>
          <a:lstStyle>
            <a:lvl1pPr marL="0" indent="0" algn="ctr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6742690" y="3669184"/>
            <a:ext cx="2294080" cy="54989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anchor="t"/>
          <a:lstStyle>
            <a:lvl1pPr marL="0" indent="0" algn="ctr"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3155230" y="4448647"/>
            <a:ext cx="5881540" cy="508364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>
              <a:defRPr kumimoji="1" lang="zh-CN" altLang="en-US" sz="14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lvl="0" indent="0" algn="ctr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1459832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1459831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9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8433254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0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8433253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1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4946542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2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4946541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>
              <a:defRPr kumimoji="1" lang="zh-CN" altLang="en-US" sz="14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lvl="0" indent="0" algn="ctr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579519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579518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1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3484482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2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3483070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4" name="文本占位符 6"/>
          <p:cNvSpPr>
            <a:spLocks noGrp="1"/>
          </p:cNvSpPr>
          <p:nvPr>
            <p:ph type="body" sz="quarter" idx="20" hasCustomPrompt="1"/>
          </p:nvPr>
        </p:nvSpPr>
        <p:spPr>
          <a:xfrm>
            <a:off x="6389445" y="417130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5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6390855" y="462678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9294408" y="417130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7" name="文本占位符 6"/>
          <p:cNvSpPr>
            <a:spLocks noGrp="1"/>
          </p:cNvSpPr>
          <p:nvPr>
            <p:ph type="body" sz="quarter" idx="23" hasCustomPrompt="1"/>
          </p:nvPr>
        </p:nvSpPr>
        <p:spPr>
          <a:xfrm>
            <a:off x="9294407" y="462678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 marL="0" indent="0" algn="ctr">
              <a:lnSpc>
                <a:spcPct val="130000"/>
              </a:lnSpc>
              <a:buNone/>
              <a:defRPr sz="1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579519" y="4167324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579518" y="4622800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892015" y="4165951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9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2892013" y="4621427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5204511" y="4165951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5204511" y="4621427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2" name="文本占位符 6"/>
          <p:cNvSpPr>
            <a:spLocks noGrp="1"/>
          </p:cNvSpPr>
          <p:nvPr>
            <p:ph type="body" sz="quarter" idx="20" hasCustomPrompt="1"/>
          </p:nvPr>
        </p:nvSpPr>
        <p:spPr>
          <a:xfrm>
            <a:off x="7517007" y="4167324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3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7517007" y="4622800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4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9829503" y="4165951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5" name="文本占位符 6"/>
          <p:cNvSpPr>
            <a:spLocks noGrp="1"/>
          </p:cNvSpPr>
          <p:nvPr>
            <p:ph type="body" sz="quarter" idx="23" hasCustomPrompt="1"/>
          </p:nvPr>
        </p:nvSpPr>
        <p:spPr>
          <a:xfrm>
            <a:off x="9829502" y="4621427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>
              <a:defRPr kumimoji="1" lang="zh-CN" altLang="en-US" sz="14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lvl="0" indent="0" algn="ctr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558800" y="4167324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558799" y="4622800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408797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9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2408797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4258794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4258794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2" name="文本占位符 6"/>
          <p:cNvSpPr>
            <a:spLocks noGrp="1"/>
          </p:cNvSpPr>
          <p:nvPr>
            <p:ph type="body" sz="quarter" idx="20" hasCustomPrompt="1"/>
          </p:nvPr>
        </p:nvSpPr>
        <p:spPr>
          <a:xfrm>
            <a:off x="7958788" y="4167324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3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7954761" y="4622800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4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9808784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5" name="文本占位符 6"/>
          <p:cNvSpPr>
            <a:spLocks noGrp="1"/>
          </p:cNvSpPr>
          <p:nvPr>
            <p:ph type="body" sz="quarter" idx="23" hasCustomPrompt="1"/>
          </p:nvPr>
        </p:nvSpPr>
        <p:spPr>
          <a:xfrm>
            <a:off x="9808783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6" name="文本占位符 6"/>
          <p:cNvSpPr>
            <a:spLocks noGrp="1"/>
          </p:cNvSpPr>
          <p:nvPr>
            <p:ph type="body" sz="quarter" idx="24" hasCustomPrompt="1"/>
          </p:nvPr>
        </p:nvSpPr>
        <p:spPr>
          <a:xfrm>
            <a:off x="6108791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7" name="文本占位符 6"/>
          <p:cNvSpPr>
            <a:spLocks noGrp="1"/>
          </p:cNvSpPr>
          <p:nvPr>
            <p:ph type="body" sz="quarter" idx="25" hasCustomPrompt="1"/>
          </p:nvPr>
        </p:nvSpPr>
        <p:spPr>
          <a:xfrm>
            <a:off x="6108791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2326105" y="2470485"/>
            <a:ext cx="7539792" cy="107482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2326105" y="3545305"/>
            <a:ext cx="7539792" cy="70772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sp>
        <p:nvSpPr>
          <p:cNvPr id="3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85838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r">
              <a:buNone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使用技巧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713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模板使用技巧</a:t>
            </a:r>
            <a:r>
              <a:rPr lang="en-US" altLang="zh-CN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 1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31800" y="117423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一键调整模板颜色</a:t>
            </a:r>
            <a:endParaRPr lang="en-US" sz="32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0" y="2138895"/>
            <a:ext cx="5295899" cy="384702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64300" y="2138895"/>
            <a:ext cx="5295900" cy="384702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2" name="文本框 11"/>
          <p:cNvSpPr txBox="1"/>
          <p:nvPr userDrawn="1"/>
        </p:nvSpPr>
        <p:spPr>
          <a:xfrm>
            <a:off x="333477" y="6061002"/>
            <a:ext cx="3183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选择“设计”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“变体”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“颜色”；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6360651" y="6061002"/>
            <a:ext cx="4562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选择你喜欢的颜色搭配，模板一秒调整为你选颜色。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05928" y="2609333"/>
            <a:ext cx="819667" cy="819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87853" y="4257158"/>
            <a:ext cx="819667" cy="819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使用技巧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440603" y="759873"/>
            <a:ext cx="1750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模板使用技巧</a:t>
            </a:r>
            <a:r>
              <a:rPr lang="en-US" altLang="zh-CN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 2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0" y="2138895"/>
            <a:ext cx="5295899" cy="384702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64301" y="2138895"/>
            <a:ext cx="5295900" cy="384702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7" name="文本框 6"/>
          <p:cNvSpPr txBox="1"/>
          <p:nvPr userDrawn="1"/>
        </p:nvSpPr>
        <p:spPr>
          <a:xfrm>
            <a:off x="431800" y="117423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随时添加模板样式</a:t>
            </a:r>
            <a:endParaRPr lang="en-US" sz="32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333477" y="6061002"/>
            <a:ext cx="3010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选择“开始”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“新建幻灯片”；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6360651" y="6061002"/>
            <a:ext cx="5256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选择你需要的页面，如封面页，目录页，副标题页，内容页等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0878" y="2428358"/>
            <a:ext cx="819667" cy="819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关注服务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E73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/>
          <p:cNvSpPr/>
          <p:nvPr userDrawn="1"/>
        </p:nvSpPr>
        <p:spPr>
          <a:xfrm>
            <a:off x="1079465" y="1527629"/>
            <a:ext cx="3802742" cy="3802742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图片包含 纵横字谜, 文字&#10;&#10;已生成极高可信度的说明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08065" y="1756229"/>
            <a:ext cx="3345542" cy="3345542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5239657" y="1566506"/>
            <a:ext cx="6013185" cy="3549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办公模板更新</a:t>
            </a:r>
            <a:endParaRPr lang="en-US" altLang="zh-CN" sz="3600" b="1" ker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微软</a:t>
            </a:r>
            <a:endParaRPr lang="en-US" altLang="zh-CN" sz="3600" b="1" ker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微信扫码关注</a:t>
            </a:r>
            <a:endParaRPr lang="en-US" altLang="zh-CN" sz="3600" b="1" ker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「 微软</a:t>
            </a:r>
            <a:r>
              <a:rPr lang="en-US" altLang="zh-CN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Office</a:t>
            </a:r>
            <a:r>
              <a:rPr lang="zh-CN" altLang="en-US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 」服务号</a:t>
            </a:r>
            <a:endParaRPr lang="en-US" altLang="zh-CN" sz="3600" b="1" ker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>
            <a:hlinkClick r:id="rId3"/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657" y="6345797"/>
            <a:ext cx="1712686" cy="2260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使用小程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>
            <a:off x="0" y="657288"/>
            <a:ext cx="12192000" cy="0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0" y="3091547"/>
            <a:ext cx="12192000" cy="3766453"/>
          </a:xfrm>
          <a:prstGeom prst="rect">
            <a:avLst/>
          </a:prstGeom>
          <a:solidFill>
            <a:srgbClr val="E73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 userDrawn="1"/>
        </p:nvSpPr>
        <p:spPr>
          <a:xfrm>
            <a:off x="621395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 userDrawn="1"/>
        </p:nvSpPr>
        <p:spPr>
          <a:xfrm>
            <a:off x="4374467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656327" y="286129"/>
            <a:ext cx="8879354" cy="6701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zh-CN" altLang="en-US" sz="3200" b="1" ker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微信扫描小程序码，使用微软移动办公黑科技 </a:t>
            </a:r>
            <a:endParaRPr lang="en-US" sz="32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1523089" y="369629"/>
            <a:ext cx="266460" cy="622048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 flipH="1">
            <a:off x="10402443" y="369629"/>
            <a:ext cx="266460" cy="622048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/>
          <p:cNvSpPr/>
          <p:nvPr userDrawn="1"/>
        </p:nvSpPr>
        <p:spPr>
          <a:xfrm>
            <a:off x="8159751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3924" t="13924" r="13924" b="13924"/>
          <a:stretch>
            <a:fillRect/>
          </a:stretch>
        </p:blipFill>
        <p:spPr>
          <a:xfrm>
            <a:off x="4705130" y="1673081"/>
            <a:ext cx="2743200" cy="27432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4439" r="14439"/>
          <a:stretch>
            <a:fillRect/>
          </a:stretch>
        </p:blipFill>
        <p:spPr>
          <a:xfrm>
            <a:off x="8519321" y="1673081"/>
            <a:ext cx="2743200" cy="27432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0965" y="1673081"/>
            <a:ext cx="2743200" cy="2743200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987447" y="5138740"/>
            <a:ext cx="2730235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在微信访问</a:t>
            </a:r>
            <a:r>
              <a:rPr lang="en-US" altLang="zh-CN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OneDrive</a:t>
            </a:r>
            <a:endParaRPr lang="en-US" altLang="zh-CN" sz="2000" kern="0">
              <a:solidFill>
                <a:schemeClr val="bg1">
                  <a:alpha val="77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40000"/>
              </a:lnSpc>
            </a:pP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</a:t>
            </a:r>
            <a:r>
              <a:rPr lang="en-US" altLang="zh-CN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Office</a:t>
            </a: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 」</a:t>
            </a:r>
            <a:endParaRPr lang="en-US" sz="20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4862328" y="5138740"/>
            <a:ext cx="2467342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让你的文档会说话</a:t>
            </a:r>
            <a:endParaRPr lang="en-US" altLang="zh-CN" sz="2000" kern="0">
              <a:solidFill>
                <a:schemeClr val="bg1">
                  <a:alpha val="77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40000"/>
              </a:lnSpc>
            </a:pP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微软听听文档 」</a:t>
            </a:r>
            <a:endParaRPr lang="zh-CN" altLang="en-US" sz="2000" b="1" ker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8644425" y="5138740"/>
            <a:ext cx="2492990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你的文档创作小助手</a:t>
            </a:r>
            <a:endParaRPr lang="en-US" altLang="zh-CN" sz="2000" kern="0">
              <a:solidFill>
                <a:schemeClr val="bg1">
                  <a:alpha val="77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40000"/>
              </a:lnSpc>
            </a:pP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微软小蜜 」</a:t>
            </a:r>
            <a:endParaRPr lang="zh-CN" altLang="en-US" sz="2000" b="1" ker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20" name="直接连接符 19"/>
          <p:cNvCxnSpPr/>
          <p:nvPr userDrawn="1"/>
        </p:nvCxnSpPr>
        <p:spPr>
          <a:xfrm>
            <a:off x="4198035" y="5330650"/>
            <a:ext cx="0" cy="65314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7976215" y="5330650"/>
            <a:ext cx="0" cy="65314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hlinkClick r:id="rId5"/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657" y="6345797"/>
            <a:ext cx="1712686" cy="2260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背景图片出处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cs typeface="Segoe UI Light" panose="020B0502040204020203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1.3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algn="l" defTabSz="6096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本网站所提供的任何信息内容（包括但不限于 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PPT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模板、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Word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文档、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Excel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图表、图片素材等）均受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中华人民共和国著作权法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信息网络传播权保护条例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包括图片或图表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pitchFamily="34" charset="-122"/>
                <a:cs typeface="+mn-cs"/>
              </a:rPr>
              <a:t>不得被全部或部分的复制、传播、销售，否则将承担法律责任。</a:t>
            </a:r>
            <a:endParaRPr kumimoji="0" lang="zh-CN" altLang="en-US" sz="13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www.runoob.com/w3cnote/pycharm-windows-install.html" TargetMode="External"/><Relationship Id="rId2" Type="http://schemas.openxmlformats.org/officeDocument/2006/relationships/hyperlink" Target="https://www.jetbrains.com/pycharm/" TargetMode="External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8.xml"/><Relationship Id="rId4" Type="http://schemas.openxmlformats.org/officeDocument/2006/relationships/hyperlink" Target="https://blog.csdn.net/ITLearnHall/article/details/81708148" TargetMode="External"/><Relationship Id="rId3" Type="http://schemas.openxmlformats.org/officeDocument/2006/relationships/hyperlink" Target="https://zhuanlan.zhihu.com/p/75717350" TargetMode="External"/><Relationship Id="rId2" Type="http://schemas.openxmlformats.org/officeDocument/2006/relationships/hyperlink" Target="https://www.anaconda.com/" TargetMode="Externa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jupyter.org/" TargetMode="External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8.xml"/><Relationship Id="rId2" Type="http://schemas.openxmlformats.org/officeDocument/2006/relationships/hyperlink" Target="https://github.com/" TargetMode="External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8.xml"/><Relationship Id="rId3" Type="http://schemas.openxmlformats.org/officeDocument/2006/relationships/hyperlink" Target="https://learngitbranching.js.org/?locale=zh_CN" TargetMode="External"/><Relationship Id="rId2" Type="http://schemas.openxmlformats.org/officeDocument/2006/relationships/hyperlink" Target="https://www.liaoxuefeng.com/wiki/896043488029600" TargetMode="External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7.png"/><Relationship Id="rId2" Type="http://schemas.openxmlformats.org/officeDocument/2006/relationships/hyperlink" Target="https://www.runoob.com/markdown/md-tutorial.html" TargetMode="Externa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7.jpeg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tags" Target="../tags/tag4.xml"/><Relationship Id="rId4" Type="http://schemas.openxmlformats.org/officeDocument/2006/relationships/image" Target="../media/image38.png"/><Relationship Id="rId3" Type="http://schemas.openxmlformats.org/officeDocument/2006/relationships/tags" Target="../tags/tag3.xml"/><Relationship Id="rId2" Type="http://schemas.openxmlformats.org/officeDocument/2006/relationships/image" Target="../media/image37.jpeg"/><Relationship Id="rId1" Type="http://schemas.openxmlformats.org/officeDocument/2006/relationships/tags" Target="../tags/tag2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0.png"/><Relationship Id="rId3" Type="http://schemas.openxmlformats.org/officeDocument/2006/relationships/tags" Target="../tags/tag6.xml"/><Relationship Id="rId2" Type="http://schemas.openxmlformats.org/officeDocument/2006/relationships/image" Target="../media/image37.jpeg"/><Relationship Id="rId1" Type="http://schemas.openxmlformats.org/officeDocument/2006/relationships/tags" Target="../tags/tag5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tags" Target="../tags/tag10.xml"/><Relationship Id="rId6" Type="http://schemas.openxmlformats.org/officeDocument/2006/relationships/image" Target="../media/image42.png"/><Relationship Id="rId5" Type="http://schemas.openxmlformats.org/officeDocument/2006/relationships/tags" Target="../tags/tag9.xml"/><Relationship Id="rId4" Type="http://schemas.openxmlformats.org/officeDocument/2006/relationships/image" Target="../media/image41.png"/><Relationship Id="rId3" Type="http://schemas.openxmlformats.org/officeDocument/2006/relationships/tags" Target="../tags/tag8.xml"/><Relationship Id="rId2" Type="http://schemas.openxmlformats.org/officeDocument/2006/relationships/image" Target="../media/image37.jpeg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5.png"/><Relationship Id="rId1" Type="http://schemas.openxmlformats.org/officeDocument/2006/relationships/image" Target="../media/image37.jpe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37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0.png"/><Relationship Id="rId1" Type="http://schemas.openxmlformats.org/officeDocument/2006/relationships/image" Target="../media/image37.jpe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37.jpe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37.jpe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hyperlink" Target="https://blog.csdn.net/impoijimlq/article/details/130445399" TargetMode="External"/><Relationship Id="rId2" Type="http://schemas.openxmlformats.org/officeDocument/2006/relationships/hyperlink" Target="https://www.runoob.com/json/json-tutorial.html" TargetMode="External"/><Relationship Id="rId1" Type="http://schemas.openxmlformats.org/officeDocument/2006/relationships/image" Target="../media/image37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tags" Target="../tags/tag13.xml"/><Relationship Id="rId3" Type="http://schemas.openxmlformats.org/officeDocument/2006/relationships/image" Target="../media/image59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1" Type="http://schemas.openxmlformats.org/officeDocument/2006/relationships/tags" Target="../tags/tag14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2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3.png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4.png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5.GIF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66.png"/><Relationship Id="rId1" Type="http://schemas.openxmlformats.org/officeDocument/2006/relationships/tags" Target="../tags/tag2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334322" y="1739592"/>
            <a:ext cx="7895063" cy="281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8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要求：</a:t>
            </a:r>
            <a:endParaRPr lang="zh-CN" altLang="en-US" sz="18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有意识地培养自己的自学能力，一些细节问题和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Bug</a:t>
            </a:r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可以先自己通过搜索引擎解决，最后再求助导师。</a:t>
            </a:r>
            <a:endParaRPr lang="en-US" altLang="zh-CN" sz="18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作业评定标准：系统的整体实现情况、代码和注释的规范程度等</a:t>
            </a:r>
            <a:endParaRPr lang="en-US" altLang="zh-CN" sz="18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本周小组作业提交的截止时间为</a:t>
            </a:r>
            <a:r>
              <a:rPr lang="zh-CN" altLang="en-US" sz="18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周</a:t>
            </a:r>
            <a:r>
              <a:rPr lang="zh-CN" altLang="en-US" sz="18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六晚</a:t>
            </a:r>
            <a:r>
              <a:rPr lang="en-US" altLang="zh-CN" sz="18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23:59</a:t>
            </a:r>
            <a:r>
              <a:rPr lang="zh-CN" altLang="en-US" sz="18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前</a:t>
            </a:r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b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</a:br>
            <a:r>
              <a:rPr lang="zh-CN" altLang="en-US" sz="18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若有特殊原因可以跟导师说明，否则将扣除相应的分数</a:t>
            </a:r>
            <a:endParaRPr lang="zh-CN" altLang="en-US" sz="18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358789" y="2289684"/>
            <a:ext cx="11146606" cy="2278632"/>
          </a:xfrm>
        </p:spPr>
        <p:txBody>
          <a:bodyPr/>
          <a:lstStyle/>
          <a:p>
            <a:r>
              <a:rPr lang="zh-CN" altLang="en-US" dirty="0">
                <a:latin typeface="Segoe UI" panose="020B0502040204020203"/>
                <a:ea typeface="微软雅黑" panose="020B0503020204020204" pitchFamily="34" charset="-122"/>
              </a:rPr>
              <a:t>常用软件及工具介绍</a:t>
            </a:r>
            <a:endParaRPr lang="en-US" altLang="zh-CN" dirty="0"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2932205" y="4702740"/>
            <a:ext cx="5881540" cy="508364"/>
          </a:xfrm>
        </p:spPr>
        <p:txBody>
          <a:bodyPr/>
          <a:lstStyle/>
          <a:p>
            <a:r>
              <a:rPr lang="zh-CN" altLang="en-US" dirty="0"/>
              <a:t>人工智能组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QG</a:t>
            </a:r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工作室 </a:t>
            </a:r>
            <a:r>
              <a:rPr lang="en-US" altLang="zh-CN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– </a:t>
            </a:r>
            <a:r>
              <a:rPr lang="zh-CN" altLang="en-US" dirty="0">
                <a:solidFill>
                  <a:srgbClr val="000000"/>
                </a:solidFill>
                <a:latin typeface="Segoe UI" panose="020B0502040204020203"/>
              </a:rPr>
              <a:t>人工智能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QG</a:t>
            </a:r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工作室 </a:t>
            </a:r>
            <a:r>
              <a:rPr lang="en-US" altLang="zh-CN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– </a:t>
            </a:r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人工智能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ea typeface="微软雅黑" panose="020B0503020204020204" pitchFamily="34" charset="-122"/>
              </a:rPr>
              <a:t>PyCharm</a:t>
            </a:r>
            <a:endParaRPr lang="en-US" dirty="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 dirty="0">
              <a:solidFill>
                <a:srgbClr val="FFFFFF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0815" y="1521000"/>
            <a:ext cx="6110370" cy="381600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</a:t>
            </a:r>
            <a:r>
              <a:rPr kumimoji="1" lang="en-US" altLang="zh-CN" dirty="0"/>
              <a:t>- </a:t>
            </a:r>
            <a:r>
              <a:rPr kumimoji="1" lang="en-US" altLang="zh-CN" dirty="0" err="1"/>
              <a:t>Pycharm</a:t>
            </a:r>
            <a:endParaRPr kumimoji="1" lang="en-US" altLang="zh-CN" dirty="0"/>
          </a:p>
        </p:txBody>
      </p:sp>
      <p:sp>
        <p:nvSpPr>
          <p:cNvPr id="104" name="矩形 103"/>
          <p:cNvSpPr/>
          <p:nvPr/>
        </p:nvSpPr>
        <p:spPr>
          <a:xfrm>
            <a:off x="998231" y="2260690"/>
            <a:ext cx="8743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           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5265" y="1106848"/>
            <a:ext cx="4066899" cy="74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1" kern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官方网站</a:t>
            </a:r>
            <a:r>
              <a:rPr lang="zh-CN" altLang="en-US" sz="1600" b="1" kern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en-US" altLang="zh-CN" sz="1400" kern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  <a:hlinkClick r:id="rId2"/>
              </a:rPr>
              <a:t>https://www.jetbrains.com/pycharm/</a:t>
            </a:r>
            <a:endParaRPr lang="en-US" altLang="zh-CN" sz="1600" kern="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5265" y="2186182"/>
            <a:ext cx="4291186" cy="2070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最好可以下载专业版，功能会更加齐全</a:t>
            </a:r>
            <a:endParaRPr lang="en-US" altLang="zh-CN" sz="16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途径：</a:t>
            </a:r>
            <a:endParaRPr lang="zh-CN" altLang="en-US" sz="16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使用广工邮箱进行申请；</a:t>
            </a:r>
            <a:endParaRPr lang="en-US" altLang="zh-CN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寻找破解版；</a:t>
            </a:r>
            <a:endParaRPr lang="en-US" altLang="zh-CN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直接购买；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5265" y="4457828"/>
            <a:ext cx="8009173" cy="1310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安装教程</a:t>
            </a:r>
            <a:endParaRPr lang="en-US" altLang="zh-CN" sz="1600" b="1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菜鸟教程：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  <a:hlinkClick r:id="rId3"/>
              </a:rPr>
              <a:t>https://www.runoob.com/w3cnote/pycharm-windows-install.html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其它</a:t>
            </a:r>
            <a:endParaRPr lang="zh-CN" altLang="en-US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4040" y="220133"/>
            <a:ext cx="3610708" cy="2254931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</a:t>
            </a:r>
            <a:r>
              <a:rPr kumimoji="1" lang="en-US" altLang="zh-CN" dirty="0"/>
              <a:t>- </a:t>
            </a:r>
            <a:r>
              <a:rPr kumimoji="1" lang="en-US" altLang="zh-CN" dirty="0" err="1"/>
              <a:t>Pycharm</a:t>
            </a:r>
            <a:endParaRPr kumimoji="1" lang="en-US" altLang="zh-CN" dirty="0"/>
          </a:p>
        </p:txBody>
      </p:sp>
      <p:sp>
        <p:nvSpPr>
          <p:cNvPr id="104" name="矩形 103"/>
          <p:cNvSpPr/>
          <p:nvPr/>
        </p:nvSpPr>
        <p:spPr>
          <a:xfrm>
            <a:off x="998231" y="2260690"/>
            <a:ext cx="8743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           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4039" y="733925"/>
            <a:ext cx="8009173" cy="873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https://www.jetbrains.com/zh-cn/pycharm/buy/?fromIDE=&amp;section=commercial&amp;billing=yearly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22" y="1645325"/>
            <a:ext cx="5914753" cy="214468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3752206"/>
            <a:ext cx="4285143" cy="292093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245856" y="4869866"/>
            <a:ext cx="5032147" cy="8544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由于广工被制裁，可能出现审核不通过的情况，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可以上传学生证或多申请几次，有概率可以通过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4040" y="220133"/>
            <a:ext cx="3610708" cy="2254931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</a:t>
            </a:r>
            <a:r>
              <a:rPr kumimoji="1" lang="en-US" altLang="zh-CN" dirty="0"/>
              <a:t>- </a:t>
            </a:r>
            <a:r>
              <a:rPr kumimoji="1" lang="en-US" altLang="zh-CN" dirty="0" err="1"/>
              <a:t>Pycharm</a:t>
            </a:r>
            <a:endParaRPr kumimoji="1" lang="en-US" altLang="zh-CN" dirty="0"/>
          </a:p>
        </p:txBody>
      </p:sp>
      <p:sp>
        <p:nvSpPr>
          <p:cNvPr id="104" name="矩形 103"/>
          <p:cNvSpPr/>
          <p:nvPr/>
        </p:nvSpPr>
        <p:spPr>
          <a:xfrm>
            <a:off x="998231" y="2260690"/>
            <a:ext cx="8743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           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53" y="624016"/>
            <a:ext cx="4016896" cy="289796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17" y="3664047"/>
            <a:ext cx="4143375" cy="298920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711" y="3100081"/>
            <a:ext cx="4567084" cy="3229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QG</a:t>
            </a:r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工作室 </a:t>
            </a:r>
            <a:r>
              <a:rPr lang="en-US" altLang="zh-CN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– </a:t>
            </a:r>
            <a:r>
              <a:rPr lang="zh-CN" altLang="en-US" dirty="0">
                <a:solidFill>
                  <a:srgbClr val="000000"/>
                </a:solidFill>
                <a:latin typeface="Segoe UI" panose="020B0502040204020203"/>
              </a:rPr>
              <a:t>人工智能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Anaconda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7804" y="-1578502"/>
            <a:ext cx="12192000" cy="609600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- Anaconda</a:t>
            </a:r>
            <a:endParaRPr kumimoji="1"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3829380" y="2811855"/>
            <a:ext cx="8597738" cy="946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  <a:t>什么是</a:t>
            </a:r>
            <a:r>
              <a:rPr lang="en-US" altLang="zh-CN" sz="1600" b="1" dirty="0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  <a:t>Anaconda</a:t>
            </a:r>
            <a:r>
              <a:rPr lang="zh-CN" altLang="en-US" sz="1600" b="1" dirty="0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  <a:t>？</a:t>
            </a:r>
            <a:endParaRPr lang="en-US" altLang="zh-CN" sz="1600" b="1" dirty="0">
              <a:solidFill>
                <a:srgbClr val="000000"/>
              </a:solidFill>
              <a:latin typeface="+mj-lt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b="0" i="0" dirty="0">
                <a:effectLst/>
              </a:rPr>
              <a:t>Anaconda</a:t>
            </a:r>
            <a:r>
              <a:rPr lang="zh-CN" altLang="en-US" sz="1400" b="0" i="0" dirty="0">
                <a:effectLst/>
              </a:rPr>
              <a:t>是一个开源的</a:t>
            </a:r>
            <a:r>
              <a:rPr lang="en-US" altLang="zh-CN" sz="1400" b="0" i="0" dirty="0">
                <a:effectLst/>
              </a:rPr>
              <a:t>Python</a:t>
            </a:r>
            <a:r>
              <a:rPr lang="zh-CN" altLang="en-US" sz="1400" b="0" i="0" dirty="0">
                <a:effectLst/>
              </a:rPr>
              <a:t>和</a:t>
            </a:r>
            <a:r>
              <a:rPr lang="en-US" altLang="zh-CN" sz="1400" b="0" i="0" dirty="0">
                <a:effectLst/>
              </a:rPr>
              <a:t>R</a:t>
            </a:r>
            <a:r>
              <a:rPr lang="zh-CN" altLang="en-US" sz="1400" b="0" i="0" dirty="0">
                <a:effectLst/>
              </a:rPr>
              <a:t>语言的发行版本，用于计算科学，致力于简化软件包管理系统和部署</a:t>
            </a:r>
            <a:r>
              <a:rPr lang="zh-CN" altLang="en-US" sz="1400" dirty="0"/>
              <a:t>；</a:t>
            </a:r>
            <a:endParaRPr lang="en-US" altLang="zh-CN" sz="1400" b="0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zh-CN" sz="1400" b="0" i="0" dirty="0">
                <a:effectLst/>
              </a:rPr>
              <a:t>Anaconda</a:t>
            </a:r>
            <a:r>
              <a:rPr lang="zh-CN" altLang="en-US" sz="1400" b="0" i="0" dirty="0">
                <a:effectLst/>
              </a:rPr>
              <a:t>的包使用软件包管理系统</a:t>
            </a:r>
            <a:r>
              <a:rPr lang="en-US" altLang="zh-CN" sz="1400" b="0" i="0" dirty="0" err="1">
                <a:effectLst/>
              </a:rPr>
              <a:t>Conda</a:t>
            </a:r>
            <a:r>
              <a:rPr lang="zh-CN" altLang="en-US" sz="1400" b="0" i="0" dirty="0">
                <a:effectLst/>
              </a:rPr>
              <a:t>进行管理</a:t>
            </a:r>
            <a:r>
              <a:rPr lang="zh-CN" altLang="en-US" sz="1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</a:rPr>
              <a:t>。</a:t>
            </a:r>
            <a:endParaRPr lang="zh-CN" altLang="en-US" sz="14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29380" y="3904896"/>
            <a:ext cx="7063740" cy="1097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什么是虚拟环境？</a:t>
            </a:r>
            <a:endParaRPr lang="zh-CN" altLang="en-US" sz="16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问题：假设有两个项目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，它们都依赖于深度学习框架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TensorFlow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，可是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依赖的是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TensorFlow 1.0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，而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依赖的是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TensorFlow 2.0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。该怎样进行管理呢？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29380" y="1097152"/>
            <a:ext cx="2601225" cy="7446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600" b="1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官方网站：</a:t>
            </a:r>
            <a:endParaRPr lang="zh-CN" sz="1600" b="1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b="1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  <a:hlinkClick r:id="rId2"/>
              </a:rPr>
              <a:t>https://www.anaconda.com/</a:t>
            </a:r>
            <a:endParaRPr lang="zh-CN" altLang="en-US" sz="1400" b="1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29380" y="5148747"/>
            <a:ext cx="7560310" cy="1099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安装教程：</a:t>
            </a:r>
            <a:endParaRPr lang="zh-CN" altLang="en-US" sz="16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知乎：</a:t>
            </a:r>
            <a:r>
              <a:rPr 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  <a:hlinkClick r:id="rId3" action="ppaction://hlinkfile"/>
              </a:rPr>
              <a:t>https://zhuanlan.zhihu.com/p/75717350</a:t>
            </a:r>
            <a:endParaRPr lang="zh-CN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CSDN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  <a:hlinkClick r:id="rId4"/>
              </a:rPr>
              <a:t>https://blog.csdn.net/ITLearnHall/article/details/81708148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1741" y="-324889"/>
            <a:ext cx="6342656" cy="3171328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- Anaconda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9258914" cy="58477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QG</a:t>
            </a:r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工作室 </a:t>
            </a:r>
            <a:r>
              <a:rPr lang="en-US" altLang="zh-CN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– </a:t>
            </a:r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人工智能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Jupyter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 - </a:t>
            </a:r>
            <a:r>
              <a:rPr kumimoji="1" lang="en-US" altLang="zh-CN" dirty="0" err="1"/>
              <a:t>Jupyter</a:t>
            </a:r>
            <a:endParaRPr kumimoji="1"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4779" y="1638045"/>
            <a:ext cx="3602616" cy="417603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67390" y="2026708"/>
            <a:ext cx="5080957" cy="2039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  <a:t>什么是</a:t>
            </a:r>
            <a:r>
              <a:rPr lang="en-US" altLang="zh-CN" sz="1600" b="1" dirty="0" err="1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  <a:t>Jupyter</a:t>
            </a:r>
            <a:r>
              <a:rPr lang="en-US" altLang="zh-CN" sz="1600" b="1" dirty="0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  <a:t> Notebook</a:t>
            </a:r>
            <a:r>
              <a:rPr lang="zh-CN" altLang="en-US" sz="1600" b="1" dirty="0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  <a:t>？</a:t>
            </a:r>
            <a:endParaRPr lang="en-US" altLang="zh-CN" sz="1600" b="1" dirty="0">
              <a:solidFill>
                <a:srgbClr val="000000"/>
              </a:solidFill>
              <a:latin typeface="+mj-lt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Jupyter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Notebook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IPython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notebook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）是一个交互式笔记本，支持运行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多种编程语言。用户可以在网页页面中直接编写和运行代码，代码的运行结果也会直接在代码块下方显示。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同时，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Jupyter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也支持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Markdown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语法，支持数学公式的使用，可以用于做学习笔记。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67390" y="1044740"/>
            <a:ext cx="1842749" cy="7446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600" b="1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官方网站：</a:t>
            </a:r>
            <a:endParaRPr lang="zh-CN" sz="1600" b="1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  <a:hlinkClick r:id="rId2"/>
              </a:rPr>
              <a:t>https://jupyter.org/</a:t>
            </a:r>
            <a:endParaRPr lang="zh-CN" altLang="en-US" sz="1400" b="1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28512" y="4303389"/>
            <a:ext cx="5358711" cy="4177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Anaconda</a:t>
            </a:r>
            <a:r>
              <a:rPr lang="zh-CN" altLang="en-US" sz="1600" b="1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附带有许多有用的软件，其中就包含有</a:t>
            </a:r>
            <a:r>
              <a:rPr lang="en-US" altLang="zh-CN" sz="1600" b="1" dirty="0" err="1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Jupyter</a:t>
            </a:r>
            <a:endParaRPr lang="zh-CN" altLang="en-US" sz="1400" b="1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 - </a:t>
            </a:r>
            <a:r>
              <a:rPr kumimoji="1" lang="en-US" altLang="zh-CN" dirty="0" err="1"/>
              <a:t>Jupyter</a:t>
            </a:r>
            <a:endParaRPr kumimoji="1"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363" y="753142"/>
            <a:ext cx="1080638" cy="125263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493" y="753142"/>
            <a:ext cx="4455242" cy="333622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735" y="3236982"/>
            <a:ext cx="4455242" cy="31442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QG</a:t>
            </a:r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工作室 </a:t>
            </a:r>
            <a:r>
              <a:rPr lang="en-US" altLang="zh-CN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– </a:t>
            </a:r>
            <a:r>
              <a:rPr lang="zh-CN" altLang="en-US" dirty="0">
                <a:solidFill>
                  <a:srgbClr val="000000"/>
                </a:solidFill>
                <a:latin typeface="Segoe UI" panose="020B0502040204020203"/>
              </a:rPr>
              <a:t>人工智能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Github</a:t>
            </a:r>
            <a:endParaRPr kumimoji="1"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endParaRPr kumimoji="1"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- GitHub</a:t>
            </a:r>
            <a:endParaRPr kumimoji="1"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5500244" y="1542808"/>
            <a:ext cx="6389495" cy="1393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什么是</a:t>
            </a:r>
            <a:r>
              <a:rPr lang="en-US" altLang="zh-CN" sz="1600" b="1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GitHub</a:t>
            </a:r>
            <a:r>
              <a:rPr lang="zh-CN" altLang="en-US" sz="1600" b="1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？</a:t>
            </a:r>
            <a:endParaRPr lang="en-US" altLang="zh-CN" sz="1600" b="1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是通过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进行版本控制的软件源代码托管服务平台，由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公司的开发者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Chris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Wanstrath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PJ Hyett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Tom Preston-Werner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Ruby on Rails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编写而成。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00243" y="2983065"/>
            <a:ext cx="6386955" cy="2933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我们能用</a:t>
            </a:r>
            <a:r>
              <a:rPr lang="en-US" altLang="zh-CN" sz="1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GitHub</a:t>
            </a: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做什么？</a:t>
            </a:r>
            <a:endParaRPr lang="en-US" altLang="zh-CN" sz="16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AutoNum type="arabicPeriod"/>
            </a:pPr>
            <a:r>
              <a:rPr lang="en-US" altLang="zh-CN" sz="1400" kern="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存储和管理项目源代码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；</a:t>
            </a:r>
            <a:r>
              <a:rPr lang="en-US" altLang="zh-CN" sz="1400" kern="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追踪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en-US" altLang="zh-CN" sz="1400" kern="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记录并控制对代码的修改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；辅助进行多人协作开发项目。</a:t>
            </a:r>
            <a:endParaRPr lang="en-US" altLang="zh-CN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AutoNum type="arabicPeriod"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简单当做云盘使用，如图床等。</a:t>
            </a:r>
            <a:endParaRPr lang="en-US" altLang="zh-CN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AutoNum type="arabicPeriod"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学习开源项目。</a:t>
            </a:r>
            <a:r>
              <a:rPr 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GitHub 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上可以搜到许多著名公司的开源项目的源码，许多个人开发者也会把自己的项目开源在 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GitHub 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上以供交流学习。同时，也会有许多优秀的开源教程。</a:t>
            </a:r>
            <a:endParaRPr lang="en-US" altLang="zh-CN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AutoNum type="arabicPeriod"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证明自己的影响力。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GitHub 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上项目的 </a:t>
            </a: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Star 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数在一定程度上代表了业界对该项目的认可，能够以此作为自己能力的证明。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5170" y="1781499"/>
            <a:ext cx="3124672" cy="312467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497704" y="750934"/>
            <a:ext cx="1879041" cy="7446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600" b="1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官方网站：</a:t>
            </a:r>
            <a:endParaRPr lang="zh-CN" sz="1600" b="1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  <a:hlinkClick r:id="rId2"/>
              </a:rPr>
              <a:t>https://github.com/</a:t>
            </a:r>
            <a:endParaRPr lang="zh-CN" altLang="en-US" sz="1400" b="1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6112" y="1866600"/>
            <a:ext cx="3124800" cy="312480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 GitHub</a:t>
            </a:r>
            <a:endParaRPr kumimoji="1" lang="en-US" altLang="zh-CN" dirty="0"/>
          </a:p>
        </p:txBody>
      </p:sp>
      <p:sp>
        <p:nvSpPr>
          <p:cNvPr id="25" name="矩形 24"/>
          <p:cNvSpPr/>
          <p:nvPr/>
        </p:nvSpPr>
        <p:spPr>
          <a:xfrm>
            <a:off x="6096000" y="1866600"/>
            <a:ext cx="5318658" cy="1069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0000"/>
                </a:solidFill>
                <a:ea typeface="微软雅黑" panose="020B0503020204020204" pitchFamily="34" charset="-122"/>
              </a:rPr>
              <a:t>什么是</a:t>
            </a:r>
            <a:r>
              <a:rPr lang="en-US" altLang="zh-CN" sz="1600" b="1" dirty="0">
                <a:solidFill>
                  <a:srgbClr val="000000"/>
                </a:solidFill>
                <a:ea typeface="微软雅黑" panose="020B0503020204020204" pitchFamily="34" charset="-122"/>
              </a:rPr>
              <a:t>Git</a:t>
            </a:r>
            <a:r>
              <a:rPr lang="zh-CN" altLang="en-US" sz="1600" b="1" dirty="0">
                <a:solidFill>
                  <a:srgbClr val="000000"/>
                </a:solidFill>
                <a:ea typeface="微软雅黑" panose="020B0503020204020204" pitchFamily="34" charset="-122"/>
              </a:rPr>
              <a:t>？</a:t>
            </a:r>
            <a:endParaRPr lang="en-US" altLang="zh-CN" sz="1600" b="1" dirty="0">
              <a:solidFill>
                <a:srgbClr val="000000"/>
              </a:solidFill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0000"/>
                </a:solidFill>
                <a:ea typeface="微软雅黑" panose="020B0503020204020204" pitchFamily="34" charset="-122"/>
              </a:rPr>
              <a:t>Git </a:t>
            </a:r>
            <a:r>
              <a:rPr lang="zh-CN" altLang="en-US" sz="1400" dirty="0">
                <a:solidFill>
                  <a:srgbClr val="000000"/>
                </a:solidFill>
                <a:ea typeface="微软雅黑" panose="020B0503020204020204" pitchFamily="34" charset="-122"/>
              </a:rPr>
              <a:t>是一个分布式版本控制工具，可以帮助开发者进行代码的版本控制。</a:t>
            </a:r>
            <a:endParaRPr lang="zh-CN" altLang="en-US" sz="1400" dirty="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0" y="2942830"/>
            <a:ext cx="5413548" cy="187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Git</a:t>
            </a: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教程：</a:t>
            </a:r>
            <a:endParaRPr lang="zh-CN" altLang="en-US" sz="16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廖雪峰博客：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  <a:hlinkClick r:id="rId2" action="ppaction://hlinkfile"/>
              </a:rPr>
              <a:t>https://www.liaoxuefeng.com/wiki/896043488029600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Git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官方教程（图形化界面）：</a:t>
            </a: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  <a:hlinkClick r:id="rId3"/>
              </a:rPr>
              <a:t>https://learngitbranching.js.org/?locale=zh_CN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QG</a:t>
            </a:r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工作室 </a:t>
            </a:r>
            <a:r>
              <a:rPr lang="en-US" altLang="zh-CN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– </a:t>
            </a:r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人工智能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Markdown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FIVE</a:t>
            </a:r>
            <a:endParaRPr kumimoji="1"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- Markdown</a:t>
            </a:r>
            <a:endParaRPr kumimoji="1" lang="zh-CN" altLang="en-US" dirty="0"/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 rotWithShape="1">
          <a:blip r:embed="rId1"/>
          <a:srcRect l="68830" t="39363" r="20020" b="39553"/>
          <a:stretch>
            <a:fillRect/>
          </a:stretch>
        </p:blipFill>
        <p:spPr>
          <a:xfrm>
            <a:off x="1004272" y="1206538"/>
            <a:ext cx="2534710" cy="2534710"/>
          </a:xfrm>
          <a:prstGeom prst="ellipse">
            <a:avLst/>
          </a:prstGeom>
        </p:spPr>
      </p:pic>
      <p:pic>
        <p:nvPicPr>
          <p:cNvPr id="105" name="图片 104"/>
          <p:cNvPicPr>
            <a:picLocks noChangeAspect="1"/>
          </p:cNvPicPr>
          <p:nvPr/>
        </p:nvPicPr>
        <p:blipFill rotWithShape="1">
          <a:blip r:embed="rId1"/>
          <a:srcRect l="68830" t="39363" r="20020" b="39553"/>
          <a:stretch>
            <a:fillRect/>
          </a:stretch>
        </p:blipFill>
        <p:spPr>
          <a:xfrm>
            <a:off x="4839251" y="1261017"/>
            <a:ext cx="2534710" cy="2534710"/>
          </a:xfrm>
          <a:prstGeom prst="ellipse">
            <a:avLst/>
          </a:prstGeom>
        </p:spPr>
      </p:pic>
      <p:pic>
        <p:nvPicPr>
          <p:cNvPr id="106" name="图片 105"/>
          <p:cNvPicPr>
            <a:picLocks noChangeAspect="1"/>
          </p:cNvPicPr>
          <p:nvPr/>
        </p:nvPicPr>
        <p:blipFill rotWithShape="1">
          <a:blip r:embed="rId1"/>
          <a:srcRect l="68830" t="39363" r="20020" b="39553"/>
          <a:stretch>
            <a:fillRect/>
          </a:stretch>
        </p:blipFill>
        <p:spPr>
          <a:xfrm>
            <a:off x="8726224" y="1206538"/>
            <a:ext cx="2534710" cy="2534710"/>
          </a:xfrm>
          <a:prstGeom prst="ellipse">
            <a:avLst/>
          </a:prstGeom>
        </p:spPr>
      </p:pic>
      <p:sp>
        <p:nvSpPr>
          <p:cNvPr id="107" name="矩形 106"/>
          <p:cNvSpPr/>
          <p:nvPr/>
        </p:nvSpPr>
        <p:spPr>
          <a:xfrm>
            <a:off x="1758143" y="397718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Segoe UI" panose="020B0502040204020203"/>
                <a:ea typeface="微软雅黑" panose="020B0503020204020204" pitchFamily="34" charset="-122"/>
              </a:rPr>
              <a:t>标记语言</a:t>
            </a:r>
            <a:endParaRPr lang="zh-CN" altLang="en-US" sz="1600" b="1" dirty="0">
              <a:solidFill>
                <a:srgbClr val="000000">
                  <a:lumMod val="85000"/>
                  <a:lumOff val="15000"/>
                </a:srgbClr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913864" y="4466633"/>
            <a:ext cx="2693959" cy="1029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Markdown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是一种轻量级标记语言。它允许人们使用易读易写的纯文本格式编写文档。这种语言吸收了很多在电子邮件中已有的纯文本标记的特性。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5798483" y="3977184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Segoe UI" panose="020B0502040204020203"/>
                <a:ea typeface="微软雅黑" panose="020B0503020204020204" pitchFamily="34" charset="-122"/>
              </a:rPr>
              <a:t>教程</a:t>
            </a:r>
            <a:endParaRPr lang="zh-CN" altLang="en-US" sz="1600" b="1" dirty="0">
              <a:solidFill>
                <a:srgbClr val="000000">
                  <a:lumMod val="85000"/>
                  <a:lumOff val="15000"/>
                </a:srgbClr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4798797" y="4463441"/>
            <a:ext cx="2594406" cy="789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菜鸟教程：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https://www.runoob.com/markdown/md-tutorial.html</a:t>
            </a:r>
            <a:endParaRPr lang="zh-CN" altLang="en-US" sz="12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9599144" y="3979541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Segoe UI" panose="020B0502040204020203"/>
                <a:ea typeface="微软雅黑" panose="020B0503020204020204" pitchFamily="34" charset="-122"/>
              </a:rPr>
              <a:t>编辑器</a:t>
            </a:r>
            <a:endParaRPr lang="zh-CN" altLang="en-US" sz="1600" b="1" dirty="0">
              <a:solidFill>
                <a:srgbClr val="000000">
                  <a:lumMod val="85000"/>
                  <a:lumOff val="15000"/>
                </a:srgbClr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8783770" y="4465971"/>
            <a:ext cx="2594406" cy="308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Typora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VsCode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3" name="Group 11"/>
          <p:cNvGrpSpPr>
            <a:grpSpLocks noChangeAspect="1"/>
          </p:cNvGrpSpPr>
          <p:nvPr/>
        </p:nvGrpSpPr>
        <p:grpSpPr bwMode="auto">
          <a:xfrm>
            <a:off x="5646855" y="2220822"/>
            <a:ext cx="907982" cy="644666"/>
            <a:chOff x="1407" y="1098"/>
            <a:chExt cx="800" cy="568"/>
          </a:xfrm>
          <a:solidFill>
            <a:schemeClr val="tx1"/>
          </a:solidFill>
        </p:grpSpPr>
        <p:sp>
          <p:nvSpPr>
            <p:cNvPr id="114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17" name="Freeform 15"/>
            <p:cNvSpPr/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16"/>
            <p:cNvSpPr/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17"/>
            <p:cNvSpPr/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18"/>
            <p:cNvSpPr/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19"/>
            <p:cNvSpPr/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2" name="Group 121"/>
          <p:cNvGrpSpPr>
            <a:grpSpLocks noChangeAspect="1"/>
          </p:cNvGrpSpPr>
          <p:nvPr/>
        </p:nvGrpSpPr>
        <p:grpSpPr bwMode="auto">
          <a:xfrm>
            <a:off x="1894248" y="2231008"/>
            <a:ext cx="754758" cy="642396"/>
            <a:chOff x="515" y="3088"/>
            <a:chExt cx="665" cy="566"/>
          </a:xfrm>
          <a:solidFill>
            <a:schemeClr val="tx1"/>
          </a:solidFill>
        </p:grpSpPr>
        <p:sp>
          <p:nvSpPr>
            <p:cNvPr id="123" name="Freeform 122"/>
            <p:cNvSpPr/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124"/>
            <p:cNvSpPr/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125"/>
            <p:cNvSpPr/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126"/>
            <p:cNvSpPr/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28" name="Freeform 127"/>
            <p:cNvSpPr/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29" name="Freeform 128"/>
            <p:cNvSpPr/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30" name="Freeform 129"/>
            <p:cNvSpPr/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31" name="Freeform 130"/>
            <p:cNvSpPr/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2" name="Group 32"/>
          <p:cNvGrpSpPr>
            <a:grpSpLocks noChangeAspect="1"/>
          </p:cNvGrpSpPr>
          <p:nvPr/>
        </p:nvGrpSpPr>
        <p:grpSpPr bwMode="auto">
          <a:xfrm>
            <a:off x="9545264" y="2191284"/>
            <a:ext cx="907980" cy="644666"/>
            <a:chOff x="4354" y="1098"/>
            <a:chExt cx="800" cy="568"/>
          </a:xfrm>
          <a:solidFill>
            <a:schemeClr val="tx1"/>
          </a:solidFill>
        </p:grpSpPr>
        <p:sp>
          <p:nvSpPr>
            <p:cNvPr id="133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34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 dirty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35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36" name="Freeform 36"/>
            <p:cNvSpPr/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37" name="Freeform 37"/>
            <p:cNvSpPr/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  <p:sp>
          <p:nvSpPr>
            <p:cNvPr id="138" name="Freeform 38"/>
            <p:cNvSpPr/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 panose="020B0502040204020203"/>
                <a:ea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9573" y="4922842"/>
            <a:ext cx="1301226" cy="1301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- Markdown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9573" y="4922842"/>
            <a:ext cx="1301226" cy="130122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" y="781050"/>
            <a:ext cx="9888333" cy="4451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QG</a:t>
            </a:r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工作室 </a:t>
            </a:r>
            <a:r>
              <a:rPr lang="en-US" altLang="zh-CN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– </a:t>
            </a:r>
            <a:r>
              <a:rPr lang="zh-CN" altLang="en-US" dirty="0">
                <a:solidFill>
                  <a:srgbClr val="000000"/>
                </a:solidFill>
                <a:latin typeface="Segoe UI" panose="020B0502040204020203"/>
              </a:rPr>
              <a:t>人工智能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759663" y="2470785"/>
            <a:ext cx="8672674" cy="1075055"/>
          </a:xfrm>
        </p:spPr>
        <p:txBody>
          <a:bodyPr/>
          <a:lstStyle/>
          <a:p>
            <a:r>
              <a:rPr kumimoji="1" lang="zh-CN" altLang="en-US" dirty="0"/>
              <a:t>其它常用网站和工具分享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SIX – </a:t>
            </a:r>
            <a:r>
              <a:rPr kumimoji="1" lang="zh-CN" altLang="en-US" dirty="0"/>
              <a:t>其它常用网站和工具分享</a:t>
            </a:r>
            <a:endParaRPr kumimoji="1" lang="zh-CN" altLang="en-US" dirty="0"/>
          </a:p>
        </p:txBody>
      </p:sp>
      <p:pic>
        <p:nvPicPr>
          <p:cNvPr id="156" name="图片 155"/>
          <p:cNvPicPr>
            <a:picLocks noChangeAspect="1"/>
          </p:cNvPicPr>
          <p:nvPr/>
        </p:nvPicPr>
        <p:blipFill rotWithShape="1">
          <a:blip r:embed="rId1"/>
          <a:srcRect l="49574"/>
          <a:stretch>
            <a:fillRect/>
          </a:stretch>
        </p:blipFill>
        <p:spPr>
          <a:xfrm>
            <a:off x="-8468" y="2435266"/>
            <a:ext cx="1002201" cy="198746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16" y="1811655"/>
            <a:ext cx="5242560" cy="23774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08316" y="1240790"/>
            <a:ext cx="181737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谷歌搜索</a:t>
            </a:r>
            <a:endParaRPr lang="zh-CN" altLang="en-US" sz="24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08316" y="4228571"/>
            <a:ext cx="485775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搜索起来没有广告，搜索效率相较于百度有一定的优势，而且能够覆盖到的网站更加全面。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0" y="1265627"/>
            <a:ext cx="314579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2.Stack overflow</a:t>
            </a:r>
            <a:endParaRPr lang="en-US" altLang="zh-CN" sz="24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04019"/>
            <a:ext cx="5447030" cy="24187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096000" y="4465864"/>
            <a:ext cx="5447030" cy="7774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类似于国内的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CSDN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，博客园等网站，但内容质量更高，氛围更好，缺点是全英文。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SIX – </a:t>
            </a:r>
            <a:r>
              <a:rPr kumimoji="1" lang="zh-CN" altLang="en-US" dirty="0"/>
              <a:t>其它常用网站和工具分享</a:t>
            </a:r>
            <a:endParaRPr kumimoji="1" lang="zh-CN" altLang="en-US" dirty="0"/>
          </a:p>
        </p:txBody>
      </p:sp>
      <p:pic>
        <p:nvPicPr>
          <p:cNvPr id="156" name="图片 155"/>
          <p:cNvPicPr>
            <a:picLocks noChangeAspect="1"/>
          </p:cNvPicPr>
          <p:nvPr/>
        </p:nvPicPr>
        <p:blipFill rotWithShape="1">
          <a:blip r:embed="rId1"/>
          <a:srcRect l="49574"/>
          <a:stretch>
            <a:fillRect/>
          </a:stretch>
        </p:blipFill>
        <p:spPr>
          <a:xfrm>
            <a:off x="-8468" y="2435266"/>
            <a:ext cx="1002201" cy="198746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36345" y="1240790"/>
            <a:ext cx="233362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、思否，掘金</a:t>
            </a:r>
            <a:endParaRPr lang="zh-CN" altLang="en-US" sz="24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38250" y="4151580"/>
            <a:ext cx="4069715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一个主要是问答，一个主要是文章，技术氛围较好的中文社区。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47815" y="1240789"/>
            <a:ext cx="314579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 Kaggle</a:t>
            </a:r>
            <a:endParaRPr lang="en-US" altLang="zh-CN" sz="24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345" y="1936750"/>
            <a:ext cx="4071620" cy="1384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3321050"/>
            <a:ext cx="4069715" cy="7874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647814" y="4494879"/>
            <a:ext cx="4476115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全世界顶级的数据挖掘竞赛网站，除了定期举办的比赛，还有开源的数据集，代码分享。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815" y="1936750"/>
            <a:ext cx="4476115" cy="2517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SIX – </a:t>
            </a:r>
            <a:r>
              <a:rPr kumimoji="1" lang="zh-CN" altLang="en-US" dirty="0"/>
              <a:t>其它常用网站和工具分享</a:t>
            </a:r>
            <a:endParaRPr kumimoji="1" lang="zh-CN" altLang="en-US" dirty="0"/>
          </a:p>
        </p:txBody>
      </p:sp>
      <p:pic>
        <p:nvPicPr>
          <p:cNvPr id="156" name="图片 155"/>
          <p:cNvPicPr>
            <a:picLocks noChangeAspect="1"/>
          </p:cNvPicPr>
          <p:nvPr/>
        </p:nvPicPr>
        <p:blipFill rotWithShape="1">
          <a:blip r:embed="rId1"/>
          <a:srcRect l="49574"/>
          <a:stretch>
            <a:fillRect/>
          </a:stretch>
        </p:blipFill>
        <p:spPr>
          <a:xfrm>
            <a:off x="-8468" y="2435266"/>
            <a:ext cx="1002201" cy="198746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22655" y="1256629"/>
            <a:ext cx="233362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2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Overleaf</a:t>
            </a:r>
            <a:endParaRPr lang="en-US" altLang="zh-CN" sz="24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22655" y="3901122"/>
            <a:ext cx="485775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Latex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是一种基于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TEX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的排版语法，和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word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相比，他将格式和内容相分离，可以排版出优美的文章和文档。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overleaf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支持在线编译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latex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语法且支持多人协作。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58518" y="1256628"/>
            <a:ext cx="3145790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 </a:t>
            </a:r>
            <a:r>
              <a:rPr lang="en-US" altLang="zh-CN" sz="2400" b="1" kern="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DeepL</a:t>
            </a:r>
            <a:endParaRPr lang="en-US" altLang="zh-CN" sz="24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58518" y="4620577"/>
            <a:ext cx="4857750" cy="41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一款号称比谷歌翻译还强的翻译软件。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55" y="2030735"/>
            <a:ext cx="4904740" cy="16224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518" y="2030735"/>
            <a:ext cx="4572000" cy="228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0c934458f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35"/>
            <a:ext cx="12190730" cy="6857365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966595" y="1796415"/>
            <a:ext cx="6489700" cy="3427730"/>
          </a:xfrm>
        </p:spPr>
        <p:txBody>
          <a:bodyPr>
            <a:noAutofit/>
          </a:bodyPr>
          <a:lstStyle/>
          <a:p>
            <a:pPr indent="0" algn="ctr">
              <a:buNone/>
            </a:pPr>
            <a:r>
              <a:rPr lang="zh-CN" altLang="en-US" sz="4800" dirty="0">
                <a:solidFill>
                  <a:schemeClr val="tx1"/>
                </a:solidFill>
                <a:latin typeface="华文行楷" panose="02010800040101010101" charset="-122"/>
                <a:ea typeface="华文行楷" panose="02010800040101010101" charset="-122"/>
              </a:rPr>
              <a:t>数据科学三大库</a:t>
            </a:r>
            <a:endParaRPr lang="zh-CN" altLang="en-US" sz="4800" dirty="0">
              <a:solidFill>
                <a:schemeClr val="tx1"/>
              </a:solidFill>
              <a:latin typeface="华文行楷" panose="02010800040101010101" charset="-122"/>
              <a:ea typeface="华文行楷" panose="02010800040101010101" charset="-122"/>
            </a:endParaRPr>
          </a:p>
          <a:p>
            <a:pPr indent="0" algn="ctr">
              <a:buNone/>
            </a:pPr>
            <a:r>
              <a:rPr lang="en-US" altLang="zh-CN" sz="4800" dirty="0">
                <a:solidFill>
                  <a:schemeClr val="tx1"/>
                </a:solidFill>
                <a:latin typeface="华文行楷" panose="02010800040101010101" charset="-122"/>
                <a:ea typeface="华文行楷" panose="02010800040101010101" charset="-122"/>
              </a:rPr>
              <a:t>&amp;</a:t>
            </a:r>
            <a:endParaRPr lang="en-US" altLang="zh-CN" sz="4800" dirty="0">
              <a:solidFill>
                <a:schemeClr val="tx1"/>
              </a:solidFill>
              <a:latin typeface="华文行楷" panose="02010800040101010101" charset="-122"/>
              <a:ea typeface="华文行楷" panose="02010800040101010101" charset="-122"/>
            </a:endParaRPr>
          </a:p>
          <a:p>
            <a:pPr indent="0" algn="ctr">
              <a:buNone/>
            </a:pPr>
            <a:r>
              <a:rPr lang="en-US" altLang="zh-CN" sz="4800" dirty="0">
                <a:solidFill>
                  <a:schemeClr val="tx1"/>
                </a:solidFill>
                <a:latin typeface="华文行楷" panose="02010800040101010101" charset="-122"/>
                <a:ea typeface="华文行楷" panose="02010800040101010101" charset="-122"/>
              </a:rPr>
              <a:t>json</a:t>
            </a:r>
            <a:r>
              <a:rPr lang="zh-CN" altLang="en-US" sz="4800" dirty="0">
                <a:solidFill>
                  <a:schemeClr val="tx1"/>
                </a:solidFill>
                <a:latin typeface="华文行楷" panose="02010800040101010101" charset="-122"/>
                <a:ea typeface="华文行楷" panose="02010800040101010101" charset="-122"/>
              </a:rPr>
              <a:t>库</a:t>
            </a:r>
            <a:endParaRPr lang="zh-CN" altLang="en-US" sz="4800" dirty="0">
              <a:solidFill>
                <a:schemeClr val="tx1"/>
              </a:solidFill>
              <a:latin typeface="华文行楷" panose="02010800040101010101" charset="-122"/>
              <a:ea typeface="华文行楷" panose="02010800040101010101" charset="-122"/>
            </a:endParaRPr>
          </a:p>
          <a:p>
            <a:pPr indent="0" algn="ctr">
              <a:buNone/>
            </a:pPr>
            <a:endParaRPr lang="zh-CN" altLang="en-US" sz="4800" dirty="0">
              <a:solidFill>
                <a:schemeClr val="tx1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0c934458f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35"/>
            <a:ext cx="12190730" cy="68573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59865" y="781050"/>
            <a:ext cx="42805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矩阵：是一个按照长方阵列排列的复数或实数集合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方阵：行和列的个数都相同的矩阵</a:t>
            </a:r>
            <a:endParaRPr lang="zh-CN" altLang="en-US" sz="2400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689725" y="781050"/>
            <a:ext cx="2511425" cy="14871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459865" y="3329305"/>
            <a:ext cx="66636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矩阵乘法：两个矩阵的乘法仅当第一个矩阵A的列数和另一个矩阵B的行数相等时才能定义</a:t>
            </a:r>
            <a:endParaRPr lang="zh-CN" altLang="en-US" sz="2400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24000" y="4989830"/>
            <a:ext cx="8176260" cy="11201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0c934458f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70485"/>
            <a:ext cx="12190730" cy="68573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45540" y="842010"/>
            <a:ext cx="42805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随机矩阵：它的每一项都是一个表示概率的非负实数</a:t>
            </a:r>
            <a:endParaRPr lang="zh-CN" altLang="en-US" sz="2400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34100" y="842010"/>
            <a:ext cx="3108960" cy="164592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45540" y="2703195"/>
            <a:ext cx="361124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右随机矩阵是实方阵，其中每一行求和为1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左随机矩阵是实方阵，其中每一列求和为1。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双随机矩阵是非负实数方阵，每个行和列求和均为1</a:t>
            </a:r>
            <a:endParaRPr lang="zh-CN" altLang="en-US"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0c934458f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35"/>
            <a:ext cx="12190730" cy="68573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673225" y="932815"/>
            <a:ext cx="37833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对角矩阵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:一个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除了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主对角线之外的元素皆为0的矩阵。对角线上的元素可以为0或其他值。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505575" y="689610"/>
            <a:ext cx="2628900" cy="15544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673225" y="3225800"/>
            <a:ext cx="37731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对角线上元素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相等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的对角矩阵称为数量矩阵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505575" y="2598420"/>
            <a:ext cx="2628900" cy="16624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505575" y="4615180"/>
            <a:ext cx="2628900" cy="17830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673225" y="4787900"/>
            <a:ext cx="3773170" cy="932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对角线上元素全为1的对角矩阵称为单位矩阵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3580" y="2598420"/>
            <a:ext cx="4365625" cy="26123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0c934458f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0730" cy="68573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53845" y="991235"/>
            <a:ext cx="41687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cs typeface="+mn-lt"/>
              </a:rPr>
              <a:t>NumPy</a:t>
            </a:r>
            <a:endParaRPr lang="en-US" altLang="zh-CN" sz="4000">
              <a:cs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53845" y="1965960"/>
            <a:ext cx="669099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NumPy(Numerical Python) 是 Python 语言的一个扩展程序库，支持大量的</a:t>
            </a:r>
            <a:r>
              <a:rPr lang="zh-CN" altLang="en-US" sz="2400" b="1"/>
              <a:t>维度数组</a:t>
            </a:r>
            <a:r>
              <a:rPr lang="zh-CN" altLang="en-US" sz="2400"/>
              <a:t>与</a:t>
            </a:r>
            <a:r>
              <a:rPr lang="zh-CN" altLang="en-US" sz="2400" b="1"/>
              <a:t>矩阵运算</a:t>
            </a:r>
            <a:r>
              <a:rPr lang="zh-CN" altLang="en-US" sz="2400"/>
              <a:t>，此外也针对数组运算提供大量的</a:t>
            </a:r>
            <a:r>
              <a:rPr lang="zh-CN" altLang="en-US" sz="2400" b="1"/>
              <a:t>数学函数</a:t>
            </a:r>
            <a:r>
              <a:rPr lang="zh-CN" altLang="en-US" sz="2400"/>
              <a:t>库。</a:t>
            </a:r>
            <a:endParaRPr lang="zh-CN" altLang="en-US" sz="2400"/>
          </a:p>
          <a:p>
            <a:r>
              <a:rPr lang="zh-CN" altLang="en-US" sz="2400"/>
              <a:t>而如今很多深度学习框架也是基于</a:t>
            </a:r>
            <a:r>
              <a:rPr lang="en-US" altLang="zh-CN" sz="2400"/>
              <a:t>NumPy</a:t>
            </a:r>
            <a:r>
              <a:rPr lang="zh-CN" altLang="en-US" sz="2400"/>
              <a:t>的基础上进行开发的，因此支持从</a:t>
            </a:r>
            <a:r>
              <a:rPr lang="en-US" altLang="zh-CN" sz="2400"/>
              <a:t>numpy</a:t>
            </a:r>
            <a:r>
              <a:rPr lang="zh-CN" altLang="en-US" sz="2400"/>
              <a:t>数据对象</a:t>
            </a:r>
            <a:r>
              <a:rPr lang="en-US" altLang="zh-CN" sz="2400"/>
              <a:t>(array)</a:t>
            </a:r>
            <a:r>
              <a:rPr lang="zh-CN" altLang="en-US" sz="2400"/>
              <a:t>直接转换成框架特有的数据对象</a:t>
            </a:r>
            <a:r>
              <a:rPr lang="en-US" altLang="zh-CN" sz="2400"/>
              <a:t>(tensor)</a:t>
            </a:r>
            <a:endParaRPr lang="en-US" altLang="zh-CN" sz="2400"/>
          </a:p>
        </p:txBody>
      </p:sp>
      <p:sp>
        <p:nvSpPr>
          <p:cNvPr id="11" name="文本框 10"/>
          <p:cNvSpPr txBox="1"/>
          <p:nvPr/>
        </p:nvSpPr>
        <p:spPr>
          <a:xfrm>
            <a:off x="1553845" y="4620895"/>
            <a:ext cx="66909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在实际应用中，常用</a:t>
            </a:r>
            <a:r>
              <a:rPr lang="en-US" altLang="zh-CN" sz="2400"/>
              <a:t>NumPy</a:t>
            </a:r>
            <a:r>
              <a:rPr lang="zh-CN" altLang="en-US" sz="2400"/>
              <a:t>来进行矩阵运算与相应的数据预处理</a:t>
            </a: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375" y="1122680"/>
            <a:ext cx="685800" cy="6508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0c934458f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53845" y="991235"/>
            <a:ext cx="41687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cs typeface="+mn-lt"/>
              </a:rPr>
              <a:t>NumPy </a:t>
            </a:r>
            <a:endParaRPr lang="zh-CN" altLang="en-US" sz="4000">
              <a:cs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35" y="1875790"/>
            <a:ext cx="4149090" cy="30956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5149215"/>
            <a:ext cx="3350260" cy="165671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575" y="1875790"/>
            <a:ext cx="3858895" cy="12230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0520" y="3510280"/>
            <a:ext cx="3406775" cy="3054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0c934458f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75740" y="940435"/>
            <a:ext cx="41687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cs typeface="+mn-lt"/>
              </a:rPr>
              <a:t>Pandas</a:t>
            </a:r>
            <a:endParaRPr lang="en-US" altLang="zh-CN" sz="4000">
              <a:cs typeface="+mn-lt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3735705" y="320040"/>
            <a:ext cx="1308735" cy="1568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475740" y="2140585"/>
            <a:ext cx="731837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Pandas是</a:t>
            </a:r>
            <a:r>
              <a:rPr lang="en-US" altLang="zh-CN" sz="2400"/>
              <a:t>Python</a:t>
            </a:r>
            <a:r>
              <a:rPr lang="zh-CN" altLang="en-US" sz="2400"/>
              <a:t>语言的一个扩展程序库， 一个强大的</a:t>
            </a:r>
            <a:r>
              <a:rPr lang="zh-CN" altLang="en-US" sz="2400" b="1"/>
              <a:t>分析结构化数据</a:t>
            </a:r>
            <a:r>
              <a:rPr lang="zh-CN" altLang="en-US" sz="2400"/>
              <a:t>的工具集，基于 Numpy开发。</a:t>
            </a:r>
            <a:endParaRPr lang="zh-CN" altLang="en-US" sz="2400"/>
          </a:p>
          <a:p>
            <a:r>
              <a:rPr lang="zh-CN" altLang="en-US" sz="2400"/>
              <a:t>Pandas 可以从各种文件格式比如 CSV、JSON、SQL、Excel </a:t>
            </a:r>
            <a:r>
              <a:rPr lang="zh-CN" altLang="en-US" sz="2400" b="1"/>
              <a:t>导入数据</a:t>
            </a:r>
            <a:r>
              <a:rPr lang="zh-CN" altLang="en-US" sz="2400"/>
              <a:t>。</a:t>
            </a:r>
            <a:endParaRPr lang="zh-CN" altLang="en-US" sz="2400"/>
          </a:p>
          <a:p>
            <a:r>
              <a:rPr lang="zh-CN" altLang="en-US" sz="2400"/>
              <a:t>Pandas 可以对各种数据进行运算操作，比如归并、再成形、选择，还有数据清洗和数据加工特征。</a:t>
            </a:r>
            <a:endParaRPr lang="zh-CN" altLang="en-US" sz="2400"/>
          </a:p>
          <a:p>
            <a:r>
              <a:rPr lang="zh-CN" altLang="en-US" sz="2400"/>
              <a:t>Pandas 广泛应用在学术、金融、统计学等各个数据分析领域。</a:t>
            </a:r>
            <a:endParaRPr lang="zh-CN" altLang="en-US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0c934458f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75740" y="940435"/>
            <a:ext cx="41687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cs typeface="+mn-lt"/>
              </a:rPr>
              <a:t>Pandas</a:t>
            </a:r>
            <a:endParaRPr lang="en-US" altLang="zh-CN" sz="4000">
              <a:cs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40" y="1647190"/>
            <a:ext cx="8539480" cy="3387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715136"/>
            <a:ext cx="3931920" cy="37185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120" y="1961515"/>
            <a:ext cx="3500755" cy="28803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2276475"/>
            <a:ext cx="8115935" cy="31337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790" y="3239135"/>
            <a:ext cx="4138930" cy="1795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0c934458f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510" y="1008380"/>
            <a:ext cx="1897380" cy="5715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75740" y="940435"/>
            <a:ext cx="24212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cs typeface="+mn-lt"/>
              </a:rPr>
              <a:t>matplotlib</a:t>
            </a:r>
            <a:endParaRPr lang="en-US" altLang="zh-CN" sz="4000"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75740" y="2140585"/>
            <a:ext cx="731837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matplotlib</a:t>
            </a:r>
            <a:r>
              <a:rPr lang="zh-CN" altLang="en-US" sz="2400" dirty="0"/>
              <a:t>是</a:t>
            </a:r>
            <a:r>
              <a:rPr lang="en-US" altLang="zh-CN" sz="2400" dirty="0"/>
              <a:t>Python</a:t>
            </a:r>
            <a:r>
              <a:rPr lang="zh-CN" altLang="en-US" sz="2400" dirty="0"/>
              <a:t>语言的一个扩展程序库，是 Python 常用的 2D </a:t>
            </a:r>
            <a:r>
              <a:rPr lang="zh-CN" altLang="en-US" sz="2400" b="1" dirty="0"/>
              <a:t>绘图库</a:t>
            </a:r>
            <a:r>
              <a:rPr lang="zh-CN" altLang="en-US" sz="2400" dirty="0"/>
              <a:t>，同时它也提供了一部分 3D 绘图接口。Matplotlib 通常与 NumPy、Pandas 一起使用，是数据分析中不可或缺的重要工具之一。</a:t>
            </a:r>
            <a:endParaRPr lang="zh-CN" altLang="en-US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85" y="2636520"/>
            <a:ext cx="3961130" cy="37490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095" y="2996565"/>
            <a:ext cx="4369435" cy="2867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0c934458f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9220" y="-34290"/>
            <a:ext cx="12190730" cy="68573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75740" y="906145"/>
            <a:ext cx="41687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cs typeface="+mn-lt"/>
              </a:rPr>
              <a:t>j</a:t>
            </a:r>
            <a:r>
              <a:rPr lang="en-US" altLang="zh-CN" sz="4000">
                <a:cs typeface="+mn-lt"/>
              </a:rPr>
              <a:t>son</a:t>
            </a:r>
            <a:endParaRPr lang="en-US" altLang="zh-CN" sz="4000">
              <a:cs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39390" y="1122680"/>
            <a:ext cx="3768090" cy="53086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1600">
                <a:hlinkClick r:id="rId2"/>
              </a:rPr>
              <a:t>JSON </a:t>
            </a:r>
            <a:r>
              <a:rPr lang="zh-CN" altLang="en-US" sz="1600">
                <a:hlinkClick r:id="rId2"/>
              </a:rPr>
              <a:t>教程 </a:t>
            </a:r>
            <a:r>
              <a:rPr lang="en-US" altLang="zh-CN" sz="1600">
                <a:hlinkClick r:id="rId2"/>
              </a:rPr>
              <a:t>| </a:t>
            </a:r>
            <a:r>
              <a:rPr lang="zh-CN" altLang="en-US" sz="1600">
                <a:hlinkClick r:id="rId2"/>
              </a:rPr>
              <a:t>菜鸟教程</a:t>
            </a:r>
            <a:endParaRPr lang="zh-CN" altLang="en-US" sz="1600">
              <a:hlinkClick r:id="rId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65885" y="2457450"/>
            <a:ext cx="8333740" cy="2126615"/>
          </a:xfrm>
          <a:prstGeom prst="rect">
            <a:avLst/>
          </a:prstGeom>
        </p:spPr>
        <p:txBody>
          <a:bodyPr>
            <a:noAutofit/>
          </a:bodyPr>
          <a:p>
            <a:pPr marL="0" algn="l">
              <a:buClrTx/>
              <a:buSzTx/>
              <a:buNone/>
            </a:pPr>
            <a:r>
              <a:rPr lang="zh-CN" altLang="en-US" sz="2400" b="0" i="0"/>
              <a:t>在Python中，JSON（JavaScript Object Notation）是一种轻量级的数据交换格式，它易于人阅读和编写，同时也易于机器解析和生成。Python提供了json模块来处理JSON数据，可以将Python对象编码成JSON字符串，也可以将JSON字符串解码成Python对象。</a:t>
            </a:r>
            <a:endParaRPr lang="zh-CN" altLang="en-US" sz="2400" b="0" i="0"/>
          </a:p>
        </p:txBody>
      </p:sp>
      <p:sp>
        <p:nvSpPr>
          <p:cNvPr id="13" name="文本框 12"/>
          <p:cNvSpPr txBox="1"/>
          <p:nvPr/>
        </p:nvSpPr>
        <p:spPr>
          <a:xfrm>
            <a:off x="2658745" y="1612900"/>
            <a:ext cx="4746625" cy="113093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>
                <a:hlinkClick r:id="rId3"/>
              </a:rPr>
              <a:t>【强烈推荐】</a:t>
            </a:r>
            <a:r>
              <a:rPr lang="en-US" altLang="zh-CN" sz="1600">
                <a:hlinkClick r:id="rId3"/>
              </a:rPr>
              <a:t>Python</a:t>
            </a:r>
            <a:r>
              <a:rPr lang="zh-CN" altLang="en-US" sz="1600">
                <a:hlinkClick r:id="rId3"/>
              </a:rPr>
              <a:t>中</a:t>
            </a:r>
            <a:r>
              <a:rPr lang="en-US" altLang="zh-CN" sz="1600">
                <a:hlinkClick r:id="rId3"/>
              </a:rPr>
              <a:t>JSON</a:t>
            </a:r>
            <a:r>
              <a:rPr lang="zh-CN" altLang="en-US" sz="1600">
                <a:hlinkClick r:id="rId3"/>
              </a:rPr>
              <a:t>的基本使用（超详细）</a:t>
            </a:r>
            <a:r>
              <a:rPr lang="en-US" altLang="zh-CN" sz="1600">
                <a:hlinkClick r:id="rId3"/>
              </a:rPr>
              <a:t>_python json-CSDN</a:t>
            </a:r>
            <a:r>
              <a:rPr lang="zh-CN" altLang="en-US" sz="1600">
                <a:hlinkClick r:id="rId3"/>
              </a:rPr>
              <a:t>博客</a:t>
            </a:r>
            <a:endParaRPr lang="zh-CN" altLang="en-US" sz="1600">
              <a:hlinkClick r:id="rId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358789" y="2289684"/>
            <a:ext cx="11146606" cy="227863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Segoe UI" panose="020B0502040204020203"/>
                <a:ea typeface="微软雅黑" panose="020B0503020204020204" pitchFamily="34" charset="-122"/>
              </a:rPr>
              <a:t>线性</a:t>
            </a:r>
            <a:r>
              <a:rPr lang="zh-CN" altLang="en-US" dirty="0">
                <a:solidFill>
                  <a:schemeClr val="accent1"/>
                </a:solidFill>
                <a:latin typeface="Segoe UI" panose="020B0502040204020203"/>
                <a:ea typeface="微软雅黑" panose="020B0503020204020204" pitchFamily="34" charset="-122"/>
              </a:rPr>
              <a:t>代数</a:t>
            </a:r>
            <a:endParaRPr lang="zh-CN" altLang="en-US" dirty="0">
              <a:solidFill>
                <a:schemeClr val="accent1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/>
        </p:nvSpPr>
        <p:spPr>
          <a:xfrm>
            <a:off x="998231" y="2260690"/>
            <a:ext cx="8743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           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20825" y="1176655"/>
            <a:ext cx="6703060" cy="1927860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zh-CN" altLang="en-US" sz="2400" b="0" i="0"/>
              <a:t>矩阵运算</a:t>
            </a:r>
            <a:endParaRPr lang="zh-CN" altLang="en-US" sz="2400" b="0" i="0"/>
          </a:p>
          <a:p>
            <a:pPr marL="0" indent="0" algn="l"/>
            <a:r>
              <a:rPr lang="zh-CN" altLang="en-US" sz="2400" b="0" i="0"/>
              <a:t>矩阵与向量的关系</a:t>
            </a:r>
            <a:endParaRPr lang="zh-CN" altLang="en-US" sz="2400" b="0" i="0"/>
          </a:p>
          <a:p>
            <a:pPr marL="0" indent="0" algn="l"/>
            <a:r>
              <a:rPr lang="zh-CN" altLang="en-US" sz="2400" b="0" i="0"/>
              <a:t>线性变换</a:t>
            </a:r>
            <a:endParaRPr lang="zh-CN" altLang="en-US" sz="2400" b="0" i="0"/>
          </a:p>
          <a:p>
            <a:pPr marL="0" indent="0" algn="l"/>
            <a:r>
              <a:rPr lang="zh-CN" altLang="en-US" sz="2400" b="0" i="0"/>
              <a:t>点乘</a:t>
            </a:r>
            <a:endParaRPr lang="zh-CN" altLang="en-US" sz="2400" b="0" i="0"/>
          </a:p>
          <a:p>
            <a:pPr marL="0" indent="0" algn="l"/>
            <a:r>
              <a:rPr lang="zh-CN" altLang="en-US" sz="2400" b="0" i="0"/>
              <a:t>叉乘</a:t>
            </a:r>
            <a:endParaRPr lang="zh-CN" altLang="en-US" sz="2400" b="0" i="0"/>
          </a:p>
          <a:p>
            <a:pPr marL="0" indent="0" algn="l"/>
            <a:r>
              <a:rPr lang="zh-CN" altLang="en-US" sz="2400" b="0" i="0"/>
              <a:t>矩阵求导</a:t>
            </a:r>
            <a:endParaRPr lang="zh-CN" altLang="en-US" sz="2400" b="0" i="0"/>
          </a:p>
          <a:p>
            <a:pPr marL="0" indent="0" algn="l"/>
            <a:endParaRPr lang="zh-CN" altLang="en-US" sz="2400" b="0" i="0"/>
          </a:p>
          <a:p>
            <a:pPr marL="0" indent="0" algn="l"/>
            <a:r>
              <a:rPr lang="zh-CN" altLang="en-US" sz="2400" b="0" i="0">
                <a:solidFill>
                  <a:srgbClr val="FF0000"/>
                </a:solidFill>
              </a:rPr>
              <a:t>（时间较短不用全部学完，学会这些知识点即可）</a:t>
            </a:r>
            <a:endParaRPr lang="zh-CN" altLang="en-US" sz="2400" b="0" i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358789" y="2289684"/>
            <a:ext cx="11146606" cy="227863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Segoe UI" panose="020B0502040204020203"/>
                <a:ea typeface="微软雅黑" panose="020B0503020204020204" pitchFamily="34" charset="-122"/>
              </a:rPr>
              <a:t>图论</a:t>
            </a:r>
            <a:endParaRPr lang="zh-CN" altLang="en-US" dirty="0">
              <a:solidFill>
                <a:schemeClr val="accent1"/>
              </a:solidFill>
              <a:latin typeface="Segoe UI" panose="020B0502040204020203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Segoe UI" panose="020B0502040204020203"/>
              </a:rPr>
              <a:t>&amp;</a:t>
            </a:r>
            <a:endParaRPr lang="en-US" altLang="zh-CN" dirty="0">
              <a:solidFill>
                <a:schemeClr val="accent1"/>
              </a:solidFill>
              <a:latin typeface="Segoe UI" panose="020B0502040204020203"/>
              <a:ea typeface="微软雅黑" panose="020B0503020204020204" pitchFamily="34" charset="-122"/>
            </a:endParaRPr>
          </a:p>
          <a:p>
            <a:r>
              <a:rPr kumimoji="1" lang="zh-CN" altLang="en-US" dirty="0">
                <a:solidFill>
                  <a:schemeClr val="accent1"/>
                </a:solidFill>
                <a:sym typeface="+mn-ea"/>
              </a:rPr>
              <a:t>多智能体系统一致性</a:t>
            </a:r>
            <a:endParaRPr kumimoji="1" lang="zh-CN" altLang="en-US" dirty="0">
              <a:solidFill>
                <a:schemeClr val="accent1"/>
              </a:solidFill>
              <a:latin typeface="Segoe UI" panose="020B0502040204020203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ea typeface="微软雅黑" panose="020B0503020204020204" pitchFamily="34" charset="-122"/>
              </a:rPr>
              <a:t>图论</a:t>
            </a:r>
            <a:endParaRPr lang="zh-CN" altLang="en-US" dirty="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 dirty="0">
              <a:solidFill>
                <a:srgbClr val="FFFFFF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/>
        </p:nvSpPr>
        <p:spPr>
          <a:xfrm>
            <a:off x="998231" y="2260690"/>
            <a:ext cx="8743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           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5900" y="567055"/>
            <a:ext cx="8316595" cy="3755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一、图的定义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图(Graph)是由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顶点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的有穷非空集合V(G)和顶点之间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的集合E(G)组成。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通常表示为: G=(V,E)，其中，G表示图，V是图G中顶点的集合，E是图G中边的集合。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若V={v1,v2,...,vn }，则用∣V∣表示图G中顶点的个数，也称图G的阶，E={(u,v)∣u∈V,v∈V}，用∣E∣表示图G中边的条数。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/>
        </p:nvSpPr>
        <p:spPr>
          <a:xfrm>
            <a:off x="998231" y="2260690"/>
            <a:ext cx="8743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           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65430" y="251460"/>
            <a:ext cx="8316595" cy="3755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二、有向图与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无向图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若E是有向边(也称弧)的有限集合时，则图G为有向图。弧是顶点的</a:t>
            </a:r>
            <a:r>
              <a:rPr lang="zh-CN" altLang="en-US" sz="20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有序对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，记为&lt;v, w&gt;，其中v,w是顶点，v称为弧尾，w称为弧头，&lt;v,w&gt;称为从顶点v到顶点w的弧，也称v邻接到w，或w邻接自v。</a:t>
            </a:r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若E是无向边(简称边)的有限集合时，则图G为无向图。边是顶点的</a:t>
            </a:r>
            <a:r>
              <a:rPr lang="zh-CN" altLang="en-US" sz="20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无序对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，记为(v, w)或(w,v),因为(v,w)=(w,v), 其中v,w是顶点。可以说顶点w和顶点v互为邻接点。边(v, w)依附于顶点w和v，或者说边(v, w)和顶点v, w相关联。</a:t>
            </a:r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5430" y="4448810"/>
            <a:ext cx="3548380" cy="22701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985385" y="3891915"/>
            <a:ext cx="2882900" cy="2741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/>
        </p:nvSpPr>
        <p:spPr>
          <a:xfrm>
            <a:off x="998231" y="2260690"/>
            <a:ext cx="8743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           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4960" y="403860"/>
            <a:ext cx="8316595" cy="3755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三、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加权图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一个图中，每条边都可以标上具有某种含义的数值，该数值称为该边的权值。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46985" y="2858770"/>
            <a:ext cx="3752850" cy="3371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/>
        </p:nvSpPr>
        <p:spPr>
          <a:xfrm>
            <a:off x="998231" y="2260690"/>
            <a:ext cx="8743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           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265430" y="495300"/>
            <a:ext cx="8316595" cy="3755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四、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邻接矩阵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91210" y="1771650"/>
            <a:ext cx="8191500" cy="3314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/>
        </p:nvSpPr>
        <p:spPr>
          <a:xfrm>
            <a:off x="998231" y="2260690"/>
            <a:ext cx="8743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           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265430" y="495300"/>
            <a:ext cx="8316595" cy="3755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四、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邻接矩阵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7660" y="1495425"/>
            <a:ext cx="8686800" cy="3724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/>
        </p:nvSpPr>
        <p:spPr>
          <a:xfrm>
            <a:off x="998231" y="2260690"/>
            <a:ext cx="8743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 panose="020B0502040204020203"/>
                <a:ea typeface="微软雅黑" panose="020B0503020204020204" pitchFamily="34" charset="-122"/>
              </a:rPr>
              <a:t>           </a:t>
            </a:r>
            <a:endParaRPr lang="zh-CN" altLang="en-US" dirty="0">
              <a:solidFill>
                <a:srgbClr val="000000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265430" y="495300"/>
            <a:ext cx="8316595" cy="3755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四、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邻接矩阵</a:t>
            </a: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5430" y="1231900"/>
            <a:ext cx="8515350" cy="3724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多智能体</a:t>
            </a:r>
            <a:r>
              <a:rPr kumimoji="1" lang="zh-CN" altLang="en-US" dirty="0"/>
              <a:t>系统一致性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588000" y="324485"/>
            <a:ext cx="5060950" cy="2203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  <a:spcBef>
                <a:spcPts val="600"/>
              </a:spcBef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多智能体系统一致性算法是指在一个由多个智能体组成的系统中，令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所有智能体的某特征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值达成一致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的算法。这种算法可以应用于分布式控制、协同感知、集群智能等领域，是多智能体系统中的一项核心技术。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 descr="m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1585" y="3239135"/>
            <a:ext cx="3413760" cy="3413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224655" y="217170"/>
            <a:ext cx="7353300" cy="5734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918710" y="546100"/>
            <a:ext cx="5233670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思考题</a:t>
            </a:r>
            <a:endParaRPr lang="zh-CN" altLang="en-US" sz="28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31435" y="1642110"/>
            <a:ext cx="574040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对于有向图，有权图，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公式哪些参数需要改变？</a:t>
            </a:r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尝试推导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公式的矩阵形式</a:t>
            </a:r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所有智能体状态最终趋于一致，一致值为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多少？</a:t>
            </a:r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在各种因素影响下，智能体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状态还会趋于一致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吗？</a:t>
            </a:r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理解离散时间和连续时间下算法的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异同</a:t>
            </a:r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2920" y="4583430"/>
            <a:ext cx="4838065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可以通过思考，查找阅读文献、资料等各种方法得到答案。将答案记录在</a:t>
            </a:r>
            <a:r>
              <a:rPr lang="zh-CN" altLang="en-US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周记里</a:t>
            </a:r>
            <a:endParaRPr lang="zh-CN" altLang="en-US" sz="160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358789" y="2289684"/>
            <a:ext cx="11146606" cy="227863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Segoe UI" panose="020B0502040204020203"/>
                <a:ea typeface="微软雅黑" panose="020B0503020204020204" pitchFamily="34" charset="-122"/>
              </a:rPr>
              <a:t>多元微分</a:t>
            </a:r>
            <a:r>
              <a:rPr lang="zh-CN" altLang="en-US" dirty="0">
                <a:solidFill>
                  <a:schemeClr val="accent1"/>
                </a:solidFill>
                <a:latin typeface="Segoe UI" panose="020B0502040204020203"/>
                <a:ea typeface="微软雅黑" panose="020B0503020204020204" pitchFamily="34" charset="-122"/>
              </a:rPr>
              <a:t>学</a:t>
            </a:r>
            <a:endParaRPr lang="zh-CN" altLang="en-US" dirty="0">
              <a:solidFill>
                <a:schemeClr val="accent1"/>
              </a:solidFill>
              <a:latin typeface="Segoe UI" panose="020B0502040204020203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98520" y="3023870"/>
            <a:ext cx="7995285" cy="810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https://publish.obsidian.md/gee-math-2/1-5.+%E5%A4%9A%E5%85%83%E5%87%BD%E6%95%B0%E5%BE%AE%E5%88%86%E5%AD%A6/%E5%9F%BA%E6%9C%AC%E6%A6%82%E5%BF%B5</a:t>
            </a:r>
            <a:endParaRPr lang="zh-CN" altLang="en-US" sz="12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68700" y="1565275"/>
            <a:ext cx="5233670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推荐学习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笔记</a:t>
            </a:r>
            <a:endParaRPr lang="zh-CN" altLang="en-US" sz="28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156200" y="2632075"/>
            <a:ext cx="4064000" cy="2022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4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谢谢大家</a:t>
            </a:r>
            <a:endParaRPr lang="zh-CN" altLang="en-US" sz="4400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PLACING_PICTURE_USER_VIEWPORT" val="{&quot;height&quot;:10799,&quot;width&quot;:19198}"/>
</p:tagLst>
</file>

<file path=ppt/tags/tag2.xml><?xml version="1.0" encoding="utf-8"?>
<p:tagLst xmlns:p="http://schemas.openxmlformats.org/presentationml/2006/main">
  <p:tag name="KSO_WM_UNIT_PLACING_PICTURE_USER_VIEWPORT" val="{&quot;height&quot;:10799,&quot;width&quot;:19198}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UNIT_PLACING_PICTURE_USER_VIEWPORT" val="{&quot;height&quot;:10799,&quot;width&quot;:19198}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UNIT_PLACING_PICTURE_USER_VIEWPORT" val="{&quot;height&quot;:10799,&quot;width&quot;:19198}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  <p:tag name="KSO_WM_UNIT_PLACING_PICTURE_USER_VIEWPORT" val="{&quot;height&quot;:2850,&quot;width&quot;:4455}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模板页面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4413</Words>
  <Application>WPS 演示</Application>
  <PresentationFormat>宽屏</PresentationFormat>
  <Paragraphs>320</Paragraphs>
  <Slides>49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2" baseType="lpstr">
      <vt:lpstr>Arial</vt:lpstr>
      <vt:lpstr>宋体</vt:lpstr>
      <vt:lpstr>Wingdings</vt:lpstr>
      <vt:lpstr>微软雅黑</vt:lpstr>
      <vt:lpstr>Segoe UI Light</vt:lpstr>
      <vt:lpstr>Century Gothic</vt:lpstr>
      <vt:lpstr>Segoe UI Light</vt:lpstr>
      <vt:lpstr>Segoe UI</vt:lpstr>
      <vt:lpstr>Arial Unicode MS</vt:lpstr>
      <vt:lpstr>等线</vt:lpstr>
      <vt:lpstr>华文行楷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林钰莹</cp:lastModifiedBy>
  <cp:revision>125</cp:revision>
  <dcterms:created xsi:type="dcterms:W3CDTF">2015-08-18T02:51:00Z</dcterms:created>
  <dcterms:modified xsi:type="dcterms:W3CDTF">2026-03-16T13:33:47Z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2017-12-21T08:36:47.5786057Z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  <property fmtid="{D5CDD505-2E9C-101B-9397-08002B2CF9AE}" pid="10" name="ICV">
    <vt:lpwstr>21387A22C22D47C79DBE2AC4058E3003_13</vt:lpwstr>
  </property>
  <property fmtid="{D5CDD505-2E9C-101B-9397-08002B2CF9AE}" pid="11" name="KSOProductBuildVer">
    <vt:lpwstr>2052-12.1.0.25225</vt:lpwstr>
  </property>
</Properties>
</file>