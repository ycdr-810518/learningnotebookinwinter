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19" autoAdjust="0"/>
  </p:normalViewPr>
  <p:slideViewPr>
    <p:cSldViewPr snapToGrid="0">
      <p:cViewPr>
        <p:scale>
          <a:sx n="100" d="100"/>
          <a:sy n="100" d="100"/>
        </p:scale>
        <p:origin x="93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25D299-22B7-42F5-A369-FD200C73BBC3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2026/3/28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6909D-8EDC-4A00-9425-7CCDD6935CD5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94205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71C006B-CAD6-46A9-AE01-1DF9FF39EC39}" type="datetime1">
              <a:rPr lang="zh-CN" altLang="en-US" noProof="0" smtClean="0"/>
              <a:t>2026/3/28</a:t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E6DE88F-1F85-4A27-9D34-D74A50E7B0DA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E6DE88F-1F85-4A27-9D34-D74A50E7B0DA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6078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altLang="zh-CN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altLang="zh-CN" noProof="0" smtClean="0"/>
              <a:pPr/>
              <a:t>7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31794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E83E4F-657C-4D8E-8FAD-6386EF9B109D}" type="datetime1">
              <a:rPr lang="zh-CN" altLang="en-US" noProof="0" smtClean="0"/>
              <a:t>2026/3/28</a:t>
            </a:fld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84CB63E-F307-418A-B628-A6B892AED4C7}" type="datetime1">
              <a:rPr lang="zh-CN" altLang="en-US" noProof="0" smtClean="0"/>
              <a:t>2026/3/28</a:t>
            </a:fld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614A190-44DA-4162-93F1-58A582F1E34D}" type="datetime1">
              <a:rPr lang="zh-CN" altLang="en-US" noProof="0" smtClean="0"/>
              <a:t>2026/3/28</a:t>
            </a:fld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8FAA926-9856-4E01-BF32-9864A6B340D7}" type="datetime1">
              <a:rPr lang="zh-CN" altLang="en-US" noProof="0" smtClean="0"/>
              <a:t>2026/3/28</a:t>
            </a:fld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图片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4A9A6D6-ED6C-4059-8881-246F48921CB9}" type="datetime1">
              <a:rPr lang="zh-CN" altLang="en-US" noProof="0" smtClean="0"/>
              <a:t>2026/3/28</a:t>
            </a:fld>
            <a:endParaRPr lang="zh-CN" altLang="en-US" noProof="0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82D6A9-C393-42BA-899D-980611436B38}" type="datetime1">
              <a:rPr lang="zh-CN" altLang="en-US" noProof="0" smtClean="0"/>
              <a:t>2026/3/28</a:t>
            </a:fld>
            <a:endParaRPr lang="zh-CN" altLang="en-US" noProof="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D4E2F3C-F6FF-4123-83A2-52AD329828E8}" type="datetime1">
              <a:rPr lang="zh-CN" altLang="en-US" noProof="0" smtClean="0"/>
              <a:t>2026/3/28</a:t>
            </a:fld>
            <a:endParaRPr lang="zh-CN" altLang="en-US" noProof="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761EBF-EC3D-40AD-A2AF-0B83A9BC8761}" type="datetime1">
              <a:rPr lang="zh-CN" altLang="en-US" noProof="0" smtClean="0"/>
              <a:t>2026/3/28</a:t>
            </a:fld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490168C-97F9-485C-B61A-FB9CF372C0B8}" type="datetime1">
              <a:rPr lang="zh-CN" altLang="en-US" noProof="0" smtClean="0"/>
              <a:t>2026/3/28</a:t>
            </a:fld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题注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4F4464-7484-4713-B9FF-83FB9DDEA071}" type="datetime1">
              <a:rPr lang="zh-CN" altLang="en-US" noProof="0" smtClean="0"/>
              <a:t>2026/3/28</a:t>
            </a:fld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65233FB-47C5-42F7-A95A-B15B60A34B63}" type="datetime1">
              <a:rPr lang="zh-CN" altLang="en-US" noProof="0" smtClean="0"/>
              <a:t>2026/3/28</a:t>
            </a:fld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题注的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12" name="文本占位符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9FB00C-3196-42EF-A93B-AD2E97DECBF9}" type="datetime1">
              <a:rPr lang="zh-CN" altLang="en-US" noProof="0" smtClean="0"/>
              <a:t>2026/3/28</a:t>
            </a:fld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A98EE3D-8CD1-4C3F-BD1C-C98C9596463C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CN" altLang="en-US" sz="8000" noProof="0" dirty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CN" altLang="en-US" sz="8000" noProof="0" dirty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3E52F37-2347-469F-95CF-B07720175159}" type="datetime1">
              <a:rPr lang="zh-CN" altLang="en-US" noProof="0" smtClean="0"/>
              <a:t>2026/3/28</a:t>
            </a:fld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7" name="文本占位符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8" name="文本占位符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10" name="文本占位符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12" name="文本占位符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DB85421-0A4F-456C-AE8B-9D9FD1C29F96}" type="datetime1">
              <a:rPr lang="zh-CN" altLang="en-US" noProof="0" smtClean="0"/>
              <a:t>2026/3/28</a:t>
            </a:fld>
            <a:endParaRPr lang="zh-CN" altLang="en-US" noProof="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图片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图片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标题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19" name="文本占位符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0" name="图片占位符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21" name="文本占位符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2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3" name="图片占位符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24" name="文本占位符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6" name="图片占位符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27" name="文本占位符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4597710-2884-4518-8343-5210F0660D76}" type="datetime1">
              <a:rPr lang="zh-CN" altLang="en-US" noProof="0" smtClean="0"/>
              <a:t>2026/3/28</a:t>
            </a:fld>
            <a:endParaRPr lang="zh-CN" altLang="en-US" noProof="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F66F3B4-29CF-4B27-AAED-5D9EF95DB219}" type="datetime1">
              <a:rPr lang="zh-CN" altLang="en-US" noProof="0" smtClean="0"/>
              <a:t>2026/3/28</a:t>
            </a:fld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A98EE3D-8CD1-4C3F-BD1C-C98C9596463C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crosoft YaHei UI" panose="020B0503020204020204" pitchFamily="34" charset="-122"/>
          <a:ea typeface="Microsoft YaHei UI" panose="020B0503020204020204" pitchFamily="34" charset="-122"/>
          <a:cs typeface="Microsoft YaHei UI" panose="020B0503020204020204" pitchFamily="34" charset="-122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jpeg"/><Relationship Id="rId10" Type="http://schemas.openxmlformats.org/officeDocument/2006/relationships/image" Target="../media/image12.jpg"/><Relationship Id="rId4" Type="http://schemas.openxmlformats.org/officeDocument/2006/relationships/image" Target="../media/image1.jpeg"/><Relationship Id="rId9" Type="http://schemas.openxmlformats.org/officeDocument/2006/relationships/image" Target="../media/image11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microsoft.com/office/2007/relationships/media" Target="../media/media2.mp4"/><Relationship Id="rId7" Type="http://schemas.openxmlformats.org/officeDocument/2006/relationships/slideLayout" Target="../slideLayouts/slideLayout4.xml"/><Relationship Id="rId12" Type="http://schemas.openxmlformats.org/officeDocument/2006/relationships/image" Target="../media/image1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17.png"/><Relationship Id="rId5" Type="http://schemas.microsoft.com/office/2007/relationships/media" Target="../media/media3.mp4"/><Relationship Id="rId10" Type="http://schemas.openxmlformats.org/officeDocument/2006/relationships/image" Target="../media/image16.png"/><Relationship Id="rId4" Type="http://schemas.openxmlformats.org/officeDocument/2006/relationships/video" Target="../media/media2.mp4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任意多边形(F)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a16="http://schemas.microsoft.com/office/drawing/2014/main" xmlns:p14="http://schemas.microsoft.com/office/powerpoint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 rtlCol="0">
            <a:normAutofit/>
          </a:bodyPr>
          <a:lstStyle/>
          <a:p>
            <a:pPr algn="l"/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差分隐私控制</a:t>
            </a:r>
            <a:r>
              <a:rPr lang="en-US" altLang="zh-CN" sz="4000" dirty="0"/>
              <a:t>:</a:t>
            </a:r>
            <a:br>
              <a:rPr lang="en-US" altLang="zh-CN" sz="4000" dirty="0"/>
            </a:br>
            <a:r>
              <a:rPr lang="zh-CN" altLang="en-US" sz="4000" dirty="0"/>
              <a:t>网络</a:t>
            </a:r>
            <a:r>
              <a:rPr lang="en-US" altLang="zh-CN" sz="4000" dirty="0"/>
              <a:t>&amp;</a:t>
            </a:r>
            <a:r>
              <a:rPr lang="zh-CN" altLang="en-US" sz="4000" dirty="0"/>
              <a:t>隐私的协同设计</a:t>
            </a:r>
            <a:endParaRPr lang="en-US" altLang="zh-CN" sz="4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 rtlCol="0">
            <a:normAutofit/>
          </a:bodyPr>
          <a:lstStyle/>
          <a:p>
            <a:pPr algn="l" rtl="0"/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作者：姚晨</a:t>
            </a:r>
            <a:endParaRPr lang="en-US" altLang="zh-CN" sz="23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 rtl="0"/>
            <a:r>
              <a:rPr lang="en-US" altLang="zh-CN" dirty="0"/>
              <a:t>QG</a:t>
            </a:r>
            <a:r>
              <a:rPr lang="zh-CN" altLang="en-US" dirty="0"/>
              <a:t>工作室中期考核答辩</a:t>
            </a:r>
            <a:endParaRPr lang="en-US" altLang="zh-CN" sz="23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长方形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rtlCol="0" anchor="b">
            <a:normAutofit/>
          </a:bodyPr>
          <a:lstStyle/>
          <a:p>
            <a:pPr algn="l"/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差分隐私是什么？</a:t>
            </a:r>
            <a:endParaRPr lang="en-US" altLang="zh-CN" sz="4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rtlCol="0" anchor="t">
            <a:normAutofit/>
          </a:bodyPr>
          <a:lstStyle/>
          <a:p>
            <a:pPr rtl="0"/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1. 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什么是差分？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sz="2400" dirty="0"/>
              <a:t>2.</a:t>
            </a:r>
            <a:r>
              <a:rPr lang="zh-CN" altLang="en-US" sz="2400" dirty="0"/>
              <a:t>与传统的隐私遮掩方式有什么不同？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DAB30D-E96F-A197-908D-4CE7F1C3F953}"/>
              </a:ext>
            </a:extLst>
          </p:cNvPr>
          <p:cNvSpPr txBox="1"/>
          <p:nvPr/>
        </p:nvSpPr>
        <p:spPr>
          <a:xfrm>
            <a:off x="6656663" y="3613666"/>
            <a:ext cx="4647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我们可以想像在空间中运动的两个点</a:t>
            </a:r>
            <a:r>
              <a:rPr lang="en-US" altLang="zh-CN" dirty="0">
                <a:solidFill>
                  <a:srgbClr val="FF0000"/>
                </a:solidFill>
              </a:rPr>
              <a:t>X &amp; X’ 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	(</a:t>
            </a:r>
            <a:r>
              <a:rPr lang="zh-CN" altLang="en-US" dirty="0">
                <a:solidFill>
                  <a:srgbClr val="FF0000"/>
                </a:solidFill>
              </a:rPr>
              <a:t>下图以二维空间为例子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2E38E6E-50FF-A49A-F4D8-10DE1AEA07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603" y="586834"/>
            <a:ext cx="2699947" cy="256594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EB4DDF5-386E-46E5-143E-BA0E1F687E6D}"/>
              </a:ext>
            </a:extLst>
          </p:cNvPr>
          <p:cNvSpPr txBox="1"/>
          <p:nvPr/>
        </p:nvSpPr>
        <p:spPr>
          <a:xfrm>
            <a:off x="3344317" y="1094825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L2</a:t>
            </a:r>
            <a:r>
              <a:rPr lang="zh-CN" altLang="en-US" dirty="0">
                <a:solidFill>
                  <a:srgbClr val="FF0000"/>
                </a:solidFill>
              </a:rPr>
              <a:t>范数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点之间欧式距离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71816CA-BD53-BA10-A322-E515CF5985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601" y="3765121"/>
            <a:ext cx="2304147" cy="158269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65CBFF8-237C-B1A1-0CB0-27DC05D896B3}"/>
              </a:ext>
            </a:extLst>
          </p:cNvPr>
          <p:cNvSpPr txBox="1"/>
          <p:nvPr/>
        </p:nvSpPr>
        <p:spPr>
          <a:xfrm>
            <a:off x="1539136" y="3244334"/>
            <a:ext cx="2779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在数据处理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zh-CN" altLang="en-US" dirty="0">
                <a:solidFill>
                  <a:srgbClr val="FF0000"/>
                </a:solidFill>
              </a:rPr>
              <a:t>架构上的不同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0ACE43A-E9C3-416D-5A7F-1C09C03D21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5215" y="3761824"/>
            <a:ext cx="2207698" cy="162463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9176126-0F46-6162-F569-3A5E0CA8CD79}"/>
              </a:ext>
            </a:extLst>
          </p:cNvPr>
          <p:cNvSpPr txBox="1"/>
          <p:nvPr/>
        </p:nvSpPr>
        <p:spPr>
          <a:xfrm>
            <a:off x="17186" y="5558000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	</a:t>
            </a:r>
            <a:r>
              <a:rPr lang="zh-CN" altLang="en-US" dirty="0">
                <a:solidFill>
                  <a:srgbClr val="FF0000"/>
                </a:solidFill>
              </a:rPr>
              <a:t>星形架构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中心节点承接所有数据流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531B5B-0E73-082B-9F8B-6B8BD9ED3B8B}"/>
              </a:ext>
            </a:extLst>
          </p:cNvPr>
          <p:cNvSpPr txBox="1"/>
          <p:nvPr/>
        </p:nvSpPr>
        <p:spPr>
          <a:xfrm>
            <a:off x="2901891" y="5558000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	</a:t>
            </a:r>
            <a:r>
              <a:rPr lang="zh-CN" altLang="en-US" dirty="0">
                <a:solidFill>
                  <a:srgbClr val="FF0000"/>
                </a:solidFill>
              </a:rPr>
              <a:t>图状架构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数据流通过相互连接流遍全图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53FAA0-FFCC-0788-D67E-2983C9736B04}"/>
              </a:ext>
            </a:extLst>
          </p:cNvPr>
          <p:cNvSpPr txBox="1"/>
          <p:nvPr/>
        </p:nvSpPr>
        <p:spPr>
          <a:xfrm>
            <a:off x="400051" y="6212434"/>
            <a:ext cx="5022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	    </a:t>
            </a:r>
            <a:r>
              <a:rPr lang="zh-CN" altLang="en-US" dirty="0">
                <a:solidFill>
                  <a:srgbClr val="FF0000"/>
                </a:solidFill>
              </a:rPr>
              <a:t>隐私风险</a:t>
            </a:r>
            <a:r>
              <a:rPr lang="en-US" altLang="zh-CN" dirty="0">
                <a:solidFill>
                  <a:srgbClr val="FF0000"/>
                </a:solidFill>
              </a:rPr>
              <a:t>&amp;</a:t>
            </a:r>
            <a:r>
              <a:rPr lang="zh-CN" altLang="en-US" dirty="0">
                <a:solidFill>
                  <a:srgbClr val="FF0000"/>
                </a:solidFill>
              </a:rPr>
              <a:t>结构失效风险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zh-CN" altLang="en-US" dirty="0">
                <a:solidFill>
                  <a:srgbClr val="FF0000"/>
                </a:solidFill>
              </a:rPr>
              <a:t>大</a:t>
            </a:r>
            <a:r>
              <a:rPr lang="en-US" altLang="zh-CN" dirty="0">
                <a:solidFill>
                  <a:srgbClr val="FF0000"/>
                </a:solidFill>
              </a:rPr>
              <a:t>			</a:t>
            </a:r>
            <a:r>
              <a:rPr lang="zh-CN" altLang="en-US" dirty="0">
                <a:solidFill>
                  <a:srgbClr val="FF0000"/>
                </a:solidFill>
              </a:rPr>
              <a:t>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777B87A-A7B0-2504-70E2-6F50F8E70C37}"/>
              </a:ext>
            </a:extLst>
          </p:cNvPr>
          <p:cNvSpPr txBox="1"/>
          <p:nvPr/>
        </p:nvSpPr>
        <p:spPr>
          <a:xfrm>
            <a:off x="7849297" y="324356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在处理对象上的不同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1AF2DA8A-1151-BA71-F426-5B23CDB28E8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6241" y="4221715"/>
            <a:ext cx="2963588" cy="2849604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E5E2B170-2704-0AFC-BC5C-A14E3B7F43B9}"/>
              </a:ext>
            </a:extLst>
          </p:cNvPr>
          <p:cNvSpPr txBox="1"/>
          <p:nvPr/>
        </p:nvSpPr>
        <p:spPr>
          <a:xfrm>
            <a:off x="10600618" y="4574140"/>
            <a:ext cx="11079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连续轨迹</a:t>
            </a:r>
            <a:endParaRPr lang="en-US" altLang="zh-CN" dirty="0"/>
          </a:p>
          <a:p>
            <a:r>
              <a:rPr lang="en-US" altLang="zh-CN" dirty="0"/>
              <a:t>VS</a:t>
            </a:r>
          </a:p>
          <a:p>
            <a:r>
              <a:rPr lang="zh-CN" altLang="en-US" dirty="0"/>
              <a:t>单点模糊</a:t>
            </a:r>
            <a:endParaRPr lang="en-US" altLang="zh-CN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9484934-4763-A78B-ABD1-84D7CF2B1C5E}"/>
              </a:ext>
            </a:extLst>
          </p:cNvPr>
          <p:cNvSpPr txBox="1"/>
          <p:nvPr/>
        </p:nvSpPr>
        <p:spPr>
          <a:xfrm>
            <a:off x="6686849" y="4378317"/>
            <a:ext cx="461665" cy="193899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/>
              <a:t>按时间片切分求和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AE82616B-6F09-B874-BABD-5753CD20903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80938" y="5738881"/>
            <a:ext cx="3133236" cy="96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/>
      <p:bldP spid="11" grpId="0"/>
      <p:bldP spid="14" grpId="0"/>
      <p:bldP spid="15" grpId="0"/>
      <p:bldP spid="16" grpId="0"/>
      <p:bldP spid="17" grpId="0"/>
      <p:bldP spid="20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862281-53E1-12FD-27E8-78CFEFC26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zh-CN" altLang="en-US" dirty="0"/>
              <a:t>所以</a:t>
            </a:r>
            <a:r>
              <a:rPr lang="en-US" altLang="zh-CN" dirty="0"/>
              <a:t>,</a:t>
            </a:r>
            <a:r>
              <a:rPr lang="zh-CN" altLang="en-US" dirty="0"/>
              <a:t>差分隐私就是隐藏轨迹的一种方式</a:t>
            </a:r>
          </a:p>
        </p:txBody>
      </p:sp>
    </p:spTree>
    <p:extLst>
      <p:ext uri="{BB962C8B-B14F-4D97-AF65-F5344CB8AC3E}">
        <p14:creationId xmlns:p14="http://schemas.microsoft.com/office/powerpoint/2010/main" val="1829486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45040-80C4-08F3-8365-507791208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那么</a:t>
            </a:r>
            <a:r>
              <a:rPr lang="en-US" altLang="zh-CN" dirty="0"/>
              <a:t>,</a:t>
            </a:r>
            <a:r>
              <a:rPr lang="zh-CN" altLang="en-US" dirty="0"/>
              <a:t>代价呢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5DBE99-67F1-8E19-5ED6-3277E9C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每个节点无时无刻都在向节点注入误差</a:t>
            </a:r>
            <a:r>
              <a:rPr lang="en-US" altLang="zh-CN" dirty="0"/>
              <a:t>, ‘</a:t>
            </a:r>
            <a:r>
              <a:rPr lang="zh-CN" altLang="en-US" dirty="0"/>
              <a:t>带偏</a:t>
            </a:r>
            <a:r>
              <a:rPr lang="en-US" altLang="zh-CN" dirty="0"/>
              <a:t>’</a:t>
            </a:r>
            <a:r>
              <a:rPr lang="zh-CN" altLang="en-US" dirty="0"/>
              <a:t>邻居</a:t>
            </a:r>
            <a:r>
              <a:rPr lang="en-US" altLang="zh-CN" dirty="0"/>
              <a:t>, </a:t>
            </a:r>
            <a:r>
              <a:rPr lang="zh-CN" altLang="en-US" dirty="0"/>
              <a:t>加大了控制的难度</a:t>
            </a:r>
            <a:endParaRPr lang="en-US" altLang="zh-CN" dirty="0"/>
          </a:p>
          <a:p>
            <a:r>
              <a:rPr lang="zh-CN" altLang="en-US" dirty="0"/>
              <a:t>高隐私需求的节点向外输出的误差明显高于整个图的水平</a:t>
            </a:r>
            <a:r>
              <a:rPr lang="en-US" altLang="zh-CN" dirty="0"/>
              <a:t>, </a:t>
            </a:r>
            <a:r>
              <a:rPr lang="zh-CN" altLang="en-US" dirty="0"/>
              <a:t>有让整个图崩溃无法收敛</a:t>
            </a:r>
            <a:r>
              <a:rPr lang="en-US" altLang="zh-CN" dirty="0"/>
              <a:t>(</a:t>
            </a:r>
            <a:r>
              <a:rPr lang="zh-CN" altLang="en-US" dirty="0"/>
              <a:t>趋于稳定值</a:t>
            </a:r>
            <a:r>
              <a:rPr lang="en-US" altLang="zh-CN" dirty="0"/>
              <a:t>)</a:t>
            </a:r>
            <a:r>
              <a:rPr lang="zh-CN" altLang="en-US" dirty="0"/>
              <a:t>的风险</a:t>
            </a:r>
          </a:p>
        </p:txBody>
      </p:sp>
    </p:spTree>
    <p:extLst>
      <p:ext uri="{BB962C8B-B14F-4D97-AF65-F5344CB8AC3E}">
        <p14:creationId xmlns:p14="http://schemas.microsoft.com/office/powerpoint/2010/main" val="873775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8CB23-439E-6AFD-CB45-774A12EBA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隐私</a:t>
            </a:r>
            <a:r>
              <a:rPr lang="en-US" altLang="zh-CN" dirty="0"/>
              <a:t>&amp;</a:t>
            </a:r>
            <a:r>
              <a:rPr lang="zh-CN" altLang="en-US" dirty="0"/>
              <a:t>网络的协同设计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E4A303-1C32-576A-641F-45DCD6921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2584533"/>
            <a:ext cx="4856841" cy="2606504"/>
          </a:xfrm>
          <a:prstGeom prst="rect">
            <a:avLst/>
          </a:prstGeom>
          <a:noFill/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D729C4-94E3-75D6-07F6-3840BBBEB4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r>
              <a:rPr lang="zh-CN" altLang="en-US" dirty="0"/>
              <a:t>通过调节图之间的边的权重</a:t>
            </a:r>
            <a:r>
              <a:rPr lang="en-US" altLang="zh-CN" dirty="0"/>
              <a:t>, </a:t>
            </a:r>
            <a:r>
              <a:rPr lang="zh-CN" altLang="en-US" dirty="0"/>
              <a:t>使权重和隐私满足数学限制</a:t>
            </a:r>
            <a:endParaRPr lang="en-US" altLang="zh-CN" dirty="0"/>
          </a:p>
          <a:p>
            <a:r>
              <a:rPr lang="en-US" altLang="zh-CN" dirty="0"/>
              <a:t>Bi</a:t>
            </a:r>
            <a:r>
              <a:rPr lang="zh-CN" altLang="en-US" dirty="0"/>
              <a:t>是隐私限度</a:t>
            </a:r>
            <a:r>
              <a:rPr lang="en-US" altLang="zh-CN" dirty="0"/>
              <a:t>,</a:t>
            </a:r>
            <a:r>
              <a:rPr lang="zh-CN" altLang="en-US" dirty="0"/>
              <a:t>就是前面的</a:t>
            </a:r>
            <a:r>
              <a:rPr lang="en-US" altLang="zh-CN" dirty="0"/>
              <a:t>bi,</a:t>
            </a:r>
            <a:r>
              <a:rPr lang="zh-CN" altLang="en-US" dirty="0"/>
              <a:t>这里是对整个时间片的轨迹求和</a:t>
            </a:r>
          </a:p>
        </p:txBody>
      </p:sp>
    </p:spTree>
    <p:extLst>
      <p:ext uri="{BB962C8B-B14F-4D97-AF65-F5344CB8AC3E}">
        <p14:creationId xmlns:p14="http://schemas.microsoft.com/office/powerpoint/2010/main" val="2439239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20B442-12AD-DD2D-D311-43397E397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我做了什么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371B52-8332-555D-319C-0FE2BF49F3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10601930" cy="3705225"/>
          </a:xfrm>
        </p:spPr>
        <p:txBody>
          <a:bodyPr/>
          <a:lstStyle/>
          <a:p>
            <a:r>
              <a:rPr lang="zh-CN" altLang="en-US" dirty="0"/>
              <a:t>模块基建</a:t>
            </a:r>
            <a:endParaRPr lang="en-US" altLang="zh-CN" dirty="0"/>
          </a:p>
          <a:p>
            <a:r>
              <a:rPr lang="zh-CN" altLang="zh-CN" b="1" dirty="0">
                <a:effectLst/>
              </a:rPr>
              <a:t> 配置管理模块</a:t>
            </a:r>
            <a:r>
              <a:rPr lang="en-US" altLang="zh-CN" b="1" dirty="0">
                <a:effectLst/>
              </a:rPr>
              <a:t> (</a:t>
            </a:r>
            <a:r>
              <a:rPr lang="en-US" altLang="zh-CN" b="1" dirty="0" err="1">
                <a:effectLst/>
              </a:rPr>
              <a:t>SimulationConfig</a:t>
            </a:r>
            <a:r>
              <a:rPr lang="en-US" altLang="zh-CN" b="1" dirty="0">
                <a:effectLst/>
              </a:rPr>
              <a:t>) </a:t>
            </a:r>
            <a:r>
              <a:rPr lang="zh-CN" altLang="zh-CN" dirty="0">
                <a:effectLst/>
              </a:rPr>
              <a:t>该模块集中管理算法运行所需的物理参数、优化约束及环境噪声。</a:t>
            </a:r>
            <a:endParaRPr lang="en-US" altLang="zh-CN" dirty="0">
              <a:effectLst/>
            </a:endParaRPr>
          </a:p>
          <a:p>
            <a:r>
              <a:rPr lang="zh-CN" altLang="zh-CN" b="1" dirty="0">
                <a:effectLst/>
              </a:rPr>
              <a:t>图论基础设施模块</a:t>
            </a:r>
            <a:r>
              <a:rPr lang="en-US" altLang="zh-CN" b="1" dirty="0">
                <a:effectLst/>
              </a:rPr>
              <a:t> (</a:t>
            </a:r>
            <a:r>
              <a:rPr lang="en-US" altLang="zh-CN" b="1" dirty="0" err="1">
                <a:effectLst/>
              </a:rPr>
              <a:t>GraphTopology</a:t>
            </a:r>
            <a:r>
              <a:rPr lang="en-US" altLang="zh-CN" b="1" dirty="0">
                <a:effectLst/>
              </a:rPr>
              <a:t>) </a:t>
            </a:r>
            <a:r>
              <a:rPr lang="zh-CN" altLang="zh-CN" dirty="0">
                <a:effectLst/>
              </a:rPr>
              <a:t>负责将离散的邻接关系转化为连续的线性代数表示。</a:t>
            </a:r>
          </a:p>
          <a:p>
            <a:r>
              <a:rPr lang="zh-CN" altLang="zh-CN" b="1" dirty="0">
                <a:effectLst/>
              </a:rPr>
              <a:t> 核心优化模块</a:t>
            </a:r>
            <a:r>
              <a:rPr lang="en-US" altLang="zh-CN" b="1" dirty="0">
                <a:effectLst/>
              </a:rPr>
              <a:t> (</a:t>
            </a:r>
            <a:r>
              <a:rPr lang="en-US" altLang="zh-CN" b="1" dirty="0" err="1">
                <a:effectLst/>
              </a:rPr>
              <a:t>ACSOptimizer</a:t>
            </a:r>
            <a:r>
              <a:rPr lang="en-US" altLang="zh-CN" b="1" dirty="0">
                <a:effectLst/>
              </a:rPr>
              <a:t>) </a:t>
            </a:r>
            <a:r>
              <a:rPr lang="zh-CN" altLang="zh-CN" dirty="0">
                <a:effectLst/>
              </a:rPr>
              <a:t>采用交替迭代策略解决非凸的协同设计问题。</a:t>
            </a:r>
            <a:r>
              <a:rPr lang="zh-CN" altLang="en-US" dirty="0">
                <a:effectLst/>
              </a:rPr>
              <a:t>将非凸问题转换为双凸问题</a:t>
            </a:r>
            <a:endParaRPr lang="zh-CN" altLang="zh-CN" dirty="0">
              <a:effectLst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423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C5BCE64-E391-8487-EFC3-0F21DD32961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913796" y="323850"/>
                <a:ext cx="10544780" cy="2838450"/>
              </a:xfrm>
            </p:spPr>
            <p:txBody>
              <a:bodyPr/>
              <a:lstStyle/>
              <a:p>
                <a:r>
                  <a:rPr lang="zh-CN" altLang="zh-CN" b="1" dirty="0">
                    <a:effectLst/>
                  </a:rPr>
                  <a:t>动力学仿真与鲁棒性验证</a:t>
                </a:r>
                <a:r>
                  <a:rPr lang="en-US" altLang="zh-CN" b="1" dirty="0">
                    <a:effectLst/>
                  </a:rPr>
                  <a:t> (agent_control.py)</a:t>
                </a:r>
                <a:endParaRPr lang="zh-CN" altLang="zh-CN" b="1" dirty="0">
                  <a:effectLst/>
                </a:endParaRPr>
              </a:p>
              <a:p>
                <a:pPr lvl="1"/>
                <a:r>
                  <a:rPr lang="zh-CN" altLang="zh-CN" b="1" dirty="0">
                    <a:effectLst/>
                  </a:rPr>
                  <a:t>阵型演化</a:t>
                </a:r>
                <a:r>
                  <a:rPr lang="en-US" altLang="zh-CN" dirty="0">
                    <a:effectLst/>
                  </a:rPr>
                  <a:t>: </a:t>
                </a:r>
                <a:r>
                  <a:rPr lang="zh-CN" altLang="zh-CN" dirty="0">
                    <a:effectLst/>
                  </a:rPr>
                  <a:t>根据一致性协议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effectLst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zh-CN" altLang="zh-CN" i="1">
                                <a:effectLst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effectLst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effectLst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effectLst/>
                      </a:rPr>
                      <m:t>=−∑</m:t>
                    </m:r>
                    <m:sSub>
                      <m:sSubPr>
                        <m:ctrlPr>
                          <a:rPr lang="zh-CN" altLang="zh-CN" i="1">
                            <a:effectLst/>
                          </a:rPr>
                        </m:ctrlPr>
                      </m:sSubPr>
                      <m:e>
                        <m:r>
                          <a:rPr lang="en-US" altLang="zh-CN" i="1">
                            <a:effectLst/>
                          </a:rPr>
                          <m:t>𝑊</m:t>
                        </m:r>
                      </m:e>
                      <m:sub>
                        <m:r>
                          <a:rPr lang="en-US" altLang="zh-CN" i="1">
                            <a:effectLst/>
                          </a:rPr>
                          <m:t>𝑖𝑗</m:t>
                        </m:r>
                      </m:sub>
                    </m:sSub>
                    <m:r>
                      <a:rPr lang="en-US" altLang="zh-CN">
                        <a:effectLst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effectLst/>
                          </a:rPr>
                        </m:ctrlPr>
                      </m:sSubPr>
                      <m:e>
                        <m:r>
                          <a:rPr lang="en-US" altLang="zh-CN" i="1">
                            <a:effectLst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effectLst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effectLst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effectLst/>
                          </a:rPr>
                        </m:ctrlPr>
                      </m:sSubPr>
                      <m:e>
                        <m:r>
                          <a:rPr lang="en-US" altLang="zh-CN" i="1">
                            <a:effectLst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effectLst/>
                          </a:rPr>
                          <m:t>𝑗</m:t>
                        </m:r>
                      </m:sub>
                    </m:sSub>
                    <m:r>
                      <a:rPr lang="en-US" altLang="zh-CN">
                        <a:effectLst/>
                      </a:rPr>
                      <m:t>−(</m:t>
                    </m:r>
                    <m:sSub>
                      <m:sSubPr>
                        <m:ctrlPr>
                          <a:rPr lang="zh-CN" altLang="zh-CN" i="1">
                            <a:effectLst/>
                          </a:rPr>
                        </m:ctrlPr>
                      </m:sSubPr>
                      <m:e>
                        <m:r>
                          <a:rPr lang="en-US" altLang="zh-CN" i="1">
                            <a:effectLst/>
                          </a:rPr>
                          <m:t>𝑞</m:t>
                        </m:r>
                      </m:e>
                      <m:sub>
                        <m:r>
                          <a:rPr lang="en-US" altLang="zh-CN" i="1">
                            <a:effectLst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effectLst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effectLst/>
                          </a:rPr>
                        </m:ctrlPr>
                      </m:sSubPr>
                      <m:e>
                        <m:r>
                          <a:rPr lang="en-US" altLang="zh-CN" i="1">
                            <a:effectLst/>
                          </a:rPr>
                          <m:t>𝑞</m:t>
                        </m:r>
                      </m:e>
                      <m:sub>
                        <m:r>
                          <a:rPr lang="en-US" altLang="zh-CN" i="1">
                            <a:effectLst/>
                          </a:rPr>
                          <m:t>𝑗</m:t>
                        </m:r>
                      </m:sub>
                    </m:sSub>
                    <m:r>
                      <a:rPr lang="en-US" altLang="zh-CN">
                        <a:effectLst/>
                      </a:rPr>
                      <m:t>))</m:t>
                    </m:r>
                  </m:oMath>
                </a14:m>
                <a:r>
                  <a:rPr lang="en-US" altLang="zh-CN" dirty="0">
                    <a:effectLst/>
                  </a:rPr>
                  <a:t> </a:t>
                </a:r>
                <a:r>
                  <a:rPr lang="zh-CN" altLang="zh-CN" dirty="0">
                    <a:effectLst/>
                  </a:rPr>
                  <a:t>实现从随机初始位置向目标坐标（如圆形）的移动。</a:t>
                </a:r>
              </a:p>
              <a:p>
                <a:pPr lvl="1"/>
                <a:r>
                  <a:rPr lang="zh-CN" altLang="zh-CN" b="1" dirty="0">
                    <a:effectLst/>
                  </a:rPr>
                  <a:t>攻击模拟</a:t>
                </a:r>
                <a:r>
                  <a:rPr lang="en-US" altLang="zh-CN" dirty="0">
                    <a:effectLst/>
                  </a:rPr>
                  <a:t>: </a:t>
                </a:r>
                <a:r>
                  <a:rPr lang="zh-CN" altLang="zh-CN" dirty="0">
                    <a:effectLst/>
                  </a:rPr>
                  <a:t>在特定智能体上注入恒定偏差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effectLst/>
                          </a:rPr>
                        </m:ctrlPr>
                      </m:sSubPr>
                      <m:e>
                        <m:r>
                          <a:rPr lang="en-US" altLang="zh-CN" i="1">
                            <a:effectLst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effectLst/>
                          </a:rPr>
                          <m:t>𝑎𝑡𝑡𝑎𝑐𝑘</m:t>
                        </m:r>
                      </m:sub>
                    </m:sSub>
                  </m:oMath>
                </a14:m>
                <a:r>
                  <a:rPr lang="zh-CN" altLang="zh-CN" dirty="0">
                    <a:effectLst/>
                  </a:rPr>
                  <a:t>，评估系统在外部攻击下的鲁棒性。</a:t>
                </a:r>
              </a:p>
              <a:p>
                <a:pPr lvl="1"/>
                <a:r>
                  <a:rPr lang="zh-CN" altLang="zh-CN" b="1" dirty="0">
                    <a:effectLst/>
                  </a:rPr>
                  <a:t>性能指标</a:t>
                </a:r>
                <a:r>
                  <a:rPr lang="en-US" altLang="zh-CN" dirty="0">
                    <a:effectLst/>
                  </a:rPr>
                  <a:t>: </a:t>
                </a:r>
                <a:r>
                  <a:rPr lang="zh-CN" altLang="zh-CN" dirty="0">
                    <a:effectLst/>
                  </a:rPr>
                  <a:t>通过 </a:t>
                </a:r>
                <a:r>
                  <a:rPr lang="en-US" altLang="zh-CN" dirty="0" err="1">
                    <a:effectLst/>
                  </a:rPr>
                  <a:t>run_compare_task</a:t>
                </a:r>
                <a:r>
                  <a:rPr lang="en-US" altLang="zh-CN" dirty="0">
                    <a:effectLst/>
                  </a:rPr>
                  <a:t> </a:t>
                </a:r>
                <a:r>
                  <a:rPr lang="zh-CN" altLang="zh-CN" dirty="0">
                    <a:effectLst/>
                  </a:rPr>
                  <a:t>绘制稳态误差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effectLst/>
                          </a:rPr>
                        </m:ctrlPr>
                      </m:sSubPr>
                      <m:e>
                        <m:r>
                          <a:rPr lang="en-US" altLang="zh-CN" i="1">
                            <a:effectLst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effectLst/>
                          </a:rPr>
                          <m:t>𝑠𝑠</m:t>
                        </m:r>
                      </m:sub>
                    </m:sSub>
                  </m:oMath>
                </a14:m>
                <a:r>
                  <a:rPr lang="en-US" altLang="zh-CN" dirty="0">
                    <a:effectLst/>
                  </a:rPr>
                  <a:t> </a:t>
                </a:r>
                <a:r>
                  <a:rPr lang="zh-CN" altLang="zh-CN" dirty="0">
                    <a:effectLst/>
                  </a:rPr>
                  <a:t>与攻击强度、隐私预算之间的关系曲线。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C5BCE64-E391-8487-EFC3-0F21DD3296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913796" y="323850"/>
                <a:ext cx="10544780" cy="2838450"/>
              </a:xfr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attack_eps_control_0.1">
            <a:hlinkClick r:id="" action="ppaction://media"/>
            <a:extLst>
              <a:ext uri="{FF2B5EF4-FFF2-40B4-BE49-F238E27FC236}">
                <a16:creationId xmlns:a16="http://schemas.microsoft.com/office/drawing/2014/main" id="{ADA90C0C-709B-3D11-6360-42F3DA549A4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55058" y="3695701"/>
            <a:ext cx="2784475" cy="278447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00E3F06-5C92-4B5D-7DF3-F606E0B95F21}"/>
              </a:ext>
            </a:extLst>
          </p:cNvPr>
          <p:cNvSpPr txBox="1"/>
          <p:nvPr/>
        </p:nvSpPr>
        <p:spPr>
          <a:xfrm>
            <a:off x="1555054" y="3162299"/>
            <a:ext cx="1384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Epsilon = 0.1</a:t>
            </a:r>
            <a:endParaRPr lang="zh-CN" altLang="en-US" dirty="0"/>
          </a:p>
        </p:txBody>
      </p:sp>
      <p:pic>
        <p:nvPicPr>
          <p:cNvPr id="14" name="attack_eps_control_0.5">
            <a:hlinkClick r:id="" action="ppaction://media"/>
            <a:extLst>
              <a:ext uri="{FF2B5EF4-FFF2-40B4-BE49-F238E27FC236}">
                <a16:creationId xmlns:a16="http://schemas.microsoft.com/office/drawing/2014/main" id="{5507FE5F-DBAC-ECCF-0CA1-117BFD035310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71370" y="3695701"/>
            <a:ext cx="2784475" cy="278447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DE58A9A-7181-A106-0F2B-3C08F297D21D}"/>
              </a:ext>
            </a:extLst>
          </p:cNvPr>
          <p:cNvSpPr txBox="1"/>
          <p:nvPr/>
        </p:nvSpPr>
        <p:spPr>
          <a:xfrm>
            <a:off x="5071366" y="3162299"/>
            <a:ext cx="1398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Epsilon = 0.5</a:t>
            </a:r>
            <a:endParaRPr lang="zh-CN" altLang="en-US" dirty="0"/>
          </a:p>
        </p:txBody>
      </p:sp>
      <p:pic>
        <p:nvPicPr>
          <p:cNvPr id="16" name="attack_eps_control_10.0">
            <a:hlinkClick r:id="" action="ppaction://media"/>
            <a:extLst>
              <a:ext uri="{FF2B5EF4-FFF2-40B4-BE49-F238E27FC236}">
                <a16:creationId xmlns:a16="http://schemas.microsoft.com/office/drawing/2014/main" id="{A1340C55-D7CA-284C-7787-FEB58E02193E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291212" y="3695701"/>
            <a:ext cx="2784475" cy="278447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E548AC3A-3BED-0383-8C4B-3AE311521FD3}"/>
              </a:ext>
            </a:extLst>
          </p:cNvPr>
          <p:cNvSpPr txBox="1"/>
          <p:nvPr/>
        </p:nvSpPr>
        <p:spPr>
          <a:xfrm>
            <a:off x="8984379" y="3162299"/>
            <a:ext cx="1502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Epsilon = 10.0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9524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2505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2505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2505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5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31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 vol="80000">
                <p:cTn id="3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E28D4BE-4622-97BD-F2A3-1E90326AD4B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90525" y="409575"/>
                <a:ext cx="11410949" cy="3019425"/>
              </a:xfrm>
            </p:spPr>
            <p:txBody>
              <a:bodyPr/>
              <a:lstStyle/>
              <a:p>
                <a:r>
                  <a:rPr lang="zh-CN" altLang="zh-CN" b="1" dirty="0">
                    <a:effectLst/>
                  </a:rPr>
                  <a:t>可视化分析模块</a:t>
                </a:r>
                <a:r>
                  <a:rPr lang="en-US" altLang="zh-CN" b="1" dirty="0">
                    <a:effectLst/>
                  </a:rPr>
                  <a:t> (draw.py)</a:t>
                </a:r>
                <a:endParaRPr lang="zh-CN" altLang="zh-CN" b="1" dirty="0">
                  <a:effectLst/>
                </a:endParaRPr>
              </a:p>
              <a:p>
                <a:pPr lvl="0"/>
                <a:r>
                  <a:rPr lang="en-US" altLang="zh-CN" b="1" dirty="0" err="1">
                    <a:effectLst/>
                  </a:rPr>
                  <a:t>plot_results</a:t>
                </a:r>
                <a:r>
                  <a:rPr lang="en-US" altLang="zh-CN" dirty="0">
                    <a:effectLst/>
                  </a:rPr>
                  <a:t>: </a:t>
                </a:r>
                <a:r>
                  <a:rPr lang="zh-CN" altLang="zh-CN" dirty="0">
                    <a:effectLst/>
                  </a:rPr>
                  <a:t>生成加权拓扑图（连线粗细映射 </a:t>
                </a:r>
                <a14:m>
                  <m:oMath xmlns:m="http://schemas.openxmlformats.org/officeDocument/2006/math">
                    <m:r>
                      <a:rPr lang="en-US" altLang="zh-CN" i="1">
                        <a:effectLst/>
                      </a:rPr>
                      <m:t>𝑊</m:t>
                    </m:r>
                  </m:oMath>
                </a14:m>
                <a:r>
                  <a:rPr lang="zh-CN" altLang="zh-CN" dirty="0">
                    <a:effectLst/>
                  </a:rPr>
                  <a:t>）与隐私参数柱状图（展示优化前后的对比）。</a:t>
                </a:r>
              </a:p>
              <a:p>
                <a:pPr lvl="0"/>
                <a:r>
                  <a:rPr lang="zh-CN" altLang="zh-CN" b="1" dirty="0">
                    <a:effectLst/>
                  </a:rPr>
                  <a:t>多维度实验</a:t>
                </a:r>
                <a:r>
                  <a:rPr lang="en-US" altLang="zh-CN" dirty="0">
                    <a:effectLst/>
                  </a:rPr>
                  <a:t>: </a:t>
                </a:r>
                <a:r>
                  <a:rPr lang="zh-CN" altLang="zh-CN" dirty="0">
                    <a:effectLst/>
                  </a:rPr>
                  <a:t>自动化运行不同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effectLst/>
                          </a:rPr>
                        </m:ctrlPr>
                      </m:sSubPr>
                      <m:e>
                        <m:r>
                          <a:rPr lang="en-US" altLang="zh-CN" i="1">
                            <a:effectLst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effectLst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zh-CN" dirty="0">
                    <a:effectLst/>
                  </a:rPr>
                  <a:t> </a:t>
                </a:r>
                <a:r>
                  <a:rPr lang="zh-CN" altLang="zh-CN" dirty="0">
                    <a:effectLst/>
                  </a:rPr>
                  <a:t>下的对比实验，生成用于学术分析的图像。</a:t>
                </a:r>
              </a:p>
              <a:p>
                <a:r>
                  <a:rPr lang="zh-CN" altLang="zh-CN" b="1" dirty="0">
                    <a:effectLst/>
                  </a:rPr>
                  <a:t>提示</a:t>
                </a:r>
                <a:r>
                  <a:rPr lang="en-US" altLang="zh-CN" dirty="0">
                    <a:effectLst/>
                  </a:rPr>
                  <a:t>: </a:t>
                </a:r>
                <a:r>
                  <a:rPr lang="zh-CN" altLang="zh-CN" dirty="0">
                    <a:effectLst/>
                  </a:rPr>
                  <a:t>在调试优化器时，若发现 </a:t>
                </a:r>
                <a14:m>
                  <m:oMath xmlns:m="http://schemas.openxmlformats.org/officeDocument/2006/math">
                    <m:r>
                      <a:rPr lang="en-US" altLang="zh-CN" i="1">
                        <a:effectLst/>
                      </a:rPr>
                      <m:t>𝑦</m:t>
                    </m:r>
                  </m:oMath>
                </a14:m>
                <a:r>
                  <a:rPr lang="en-US" altLang="zh-CN" dirty="0">
                    <a:effectLst/>
                  </a:rPr>
                  <a:t> </a:t>
                </a:r>
                <a:r>
                  <a:rPr lang="zh-CN" altLang="zh-CN" dirty="0">
                    <a:effectLst/>
                  </a:rPr>
                  <a:t>值增长缓慢，请务必检查边预算 </a:t>
                </a:r>
                <a14:m>
                  <m:oMath xmlns:m="http://schemas.openxmlformats.org/officeDocument/2006/math">
                    <m:r>
                      <a:rPr lang="en-US" altLang="zh-CN" i="1">
                        <a:effectLst/>
                      </a:rPr>
                      <m:t>𝐵</m:t>
                    </m:r>
                  </m:oMath>
                </a14:m>
                <a:r>
                  <a:rPr lang="en-US" altLang="zh-CN" dirty="0">
                    <a:effectLst/>
                  </a:rPr>
                  <a:t> </a:t>
                </a:r>
                <a:r>
                  <a:rPr lang="zh-CN" altLang="zh-CN" dirty="0">
                    <a:effectLst/>
                  </a:rPr>
                  <a:t>的设定是否过于严苛。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E28D4BE-4622-97BD-F2A3-1E90326AD4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90525" y="409575"/>
                <a:ext cx="11410949" cy="301942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14D360E4-5B88-B625-492A-0D7FE5B49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829734"/>
            <a:ext cx="10186306" cy="396134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575BCA8-9C28-3062-900F-20E719BEB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47" y="1514474"/>
            <a:ext cx="10186307" cy="396134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E50A242-B115-569F-D40B-A9EDD82C09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74" y="2271711"/>
            <a:ext cx="10740123" cy="417671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6B6AE66-76FE-A313-6945-CB01989284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3061758"/>
            <a:ext cx="12192000" cy="338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39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57_TF55705232" id="{2B8A3B67-1754-499D-B089-7E817E09AA8D}" vid="{47D6E851-31DE-434C-BDBA-29774C403FAD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{E8078E68-5653-408B-9D0C-C422645C7DE8}TFe742eee6-54b3-45e8-a03d-f3d997f9b6ca5cf54cbd_win32-6bf8c3ea2049</Template>
  <TotalTime>127</TotalTime>
  <Words>502</Words>
  <Application>Microsoft Office PowerPoint</Application>
  <PresentationFormat>宽屏</PresentationFormat>
  <Paragraphs>48</Paragraphs>
  <Slides>8</Slides>
  <Notes>3</Notes>
  <HiddenSlides>0</HiddenSlides>
  <MMClips>3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Microsoft YaHei UI</vt:lpstr>
      <vt:lpstr>Wingdings 2</vt:lpstr>
      <vt:lpstr>SlateVTI</vt:lpstr>
      <vt:lpstr>差分隐私控制: 网络&amp;隐私的协同设计</vt:lpstr>
      <vt:lpstr>差分隐私是什么？</vt:lpstr>
      <vt:lpstr>所以,差分隐私就是隐藏轨迹的一种方式</vt:lpstr>
      <vt:lpstr>那么,代价呢?</vt:lpstr>
      <vt:lpstr>隐私&amp;网络的协同设计</vt:lpstr>
      <vt:lpstr>我做了什么?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差分隐私控制:隐私&amp;网络协同设计</dc:title>
  <dc:subject>报告</dc:subject>
  <dc:creator>姚晨</dc:creator>
  <cp:keywords>QG工作室</cp:keywords>
  <cp:lastModifiedBy>yaochen</cp:lastModifiedBy>
  <cp:revision>1</cp:revision>
  <dcterms:created xsi:type="dcterms:W3CDTF">2026-03-28T11:41:06Z</dcterms:created>
  <dcterms:modified xsi:type="dcterms:W3CDTF">2026-03-28T13:48:51Z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